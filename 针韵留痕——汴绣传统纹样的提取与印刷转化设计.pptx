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同学们好！今天我汇报的课程设计题目是《针韵留痕——汴绣传统纹样的提取与印刷转化设计》。本次设计立足于国家级非物质文化遗产汴绣，探讨如何将传统的刺绣艺术语言转化为契合现代印刷工艺的平面视觉设计。</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本次汇报共分为七个部分，从背景意义出发，梳理纹样调研与思路，详细解读六幅代表性作品，并重点展开印刷工艺适配分析与设计总结。</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汴绣是河南极具代表性的非物质文化遗产。我们这次课题并非复刻原有绣品，而是从汴绣丰厚的视觉资源里汲取养分，探索能够适配现代印刷的表现形式，建立工艺前置的设计思维。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在调研阶段，我们发现汴绣深受宋代审美浸润，题材偏爱双鱼、宝相花等吉祥意象，构图偏好均衡对称，色彩对比明快。手工质感转为印刷时，必须重构图形秩序。</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创作思路遵循四步法：先筛选代表性传统母题，再概括物象形态梳理主次，接着强化矢量线条流畅度与对称秩序，最后选用明快民俗色调统一整套风格。</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作品一《双鱼吉祥适合纹》采用圆形构图，双鱼环绕，姿态柔和舒展，外围轻盈云纹衬托主体，画面饱满而不拥挤，非常适合应用在徽章、贴纸及各类圆形文创产品之上。</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作品二《对称卷草边饰纹》参考传统服饰镶边装饰，具有二方连续的横向延伸感，线条卷曲流动，自带边框气质，可用于书脊、包装侧边及海报边框。</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作品三《海棠形团花纹》借鉴传统海棠开光的经典轮廓，外轮廓温婉雅致，内部云纹与卷草穿插，画面松紧有度，寓意安康顺遂，非常适合作为贺卡与包装开窗主视觉。</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作品四《宝相莲团花纹》采用中心放射式布局，花瓣层层舒展，形态端庄，去除了多余杂乱线条，保证图形清晰醒目，适合明信片、丝巾和高端包装。</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作品五《竖向对称花卉纹》采用左右对称、向上挺拔的竖向构图，主花自然舒展，两侧叶片平衡整体，纵向张力明显，非常契合书签、请柬及竖版版面。</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作品六《缠枝花环纹》由缠枝花卉串联成环，元素穿插呼应，节奏流畅，兼具单体环形使用与四方连续延展的潜力，适用于陶瓷贴花、纸胶带和包装底纹。</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在印刷工艺适配上，整套设计坚持干净平涂，严格控制线宽在 0.25mm 以上，闭合路径便于丝网分色与烫金击凸制版，套色控制在 4 到 5 色，兼顾视觉质感与印制成本。</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这次课题让我真切体会到：工艺条件会反过来引导设计取舍。不足之处在于个别细节依然偏多，上机印制还可以适度精简，未来希望继续完善连续纹样系统，落实到更多文创载体上。</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感谢老师在课程期间给予的指导与建议，让我对传统装饰纹样和印刷工艺有了更具体、更系统的理解。以上就是我的汇报，敬请老师批评指正。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ianxiu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ianxiu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7cf7a1402ec7b51.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4b2c9f976ae1c6a.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1d133ad1a54ace.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ae9e31794ba7540.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84df170fc514b.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7daa3105db4806.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sp>
        <p:nvSpPr>
          <p:cNvPr id="3" name="frame-inner"/>
          <p:cNvSpPr/>
          <p:nvPr/>
        </p:nvSpPr>
        <p:spPr>
          <a:xfrm>
            <a:off x="361950" y="361950"/>
            <a:ext cx="11468100" cy="6134100"/>
          </a:xfrm>
          <a:prstGeom prst="rect">
            <a:avLst/>
          </a:prstGeom>
          <a:noFill/>
          <a:ln w="7620">
            <a:solidFill>
              <a:srgbClr val="E8E0D5"/>
            </a:solidFill>
            <a:prstDash val="dash"/>
          </a:ln>
        </p:spPr>
      </p:sp>
      <p:grpSp>
        <p:nvGrpSpPr>
          <p:cNvPr id="6" name="p01-tag-group"/>
          <p:cNvGrpSpPr/>
          <p:nvPr/>
        </p:nvGrpSpPr>
        <p:grpSpPr>
          <a:xfrm>
            <a:off x="4191000" y="952500"/>
            <a:ext cx="3810000" cy="419100"/>
            <a:chOff x="4191000" y="952500"/>
            <a:chExt cx="3810000" cy="419100"/>
          </a:xfrm>
        </p:grpSpPr>
        <p:sp>
          <p:nvSpPr>
            <p:cNvPr id="4" name="Rectangle 4"/>
            <p:cNvSpPr/>
            <p:nvPr/>
          </p:nvSpPr>
          <p:spPr>
            <a:xfrm>
              <a:off x="4191000" y="952500"/>
              <a:ext cx="3810000" cy="419100"/>
            </a:xfrm>
            <a:prstGeom prst="roundRect">
              <a:avLst>
                <a:gd name="adj" fmla="val 50000"/>
              </a:avLst>
            </a:prstGeom>
            <a:solidFill>
              <a:srgbClr val="F3EEE6"/>
            </a:solidFill>
            <a:ln w="9525">
              <a:solidFill>
                <a:srgbClr val="D8CDBF"/>
              </a:solidFill>
            </a:ln>
          </p:spPr>
        </p:sp>
        <p:sp>
          <p:nvSpPr>
            <p:cNvPr id="5" name="TextBox 5"/>
            <p:cNvSpPr txBox="1"/>
            <p:nvPr/>
          </p:nvSpPr>
          <p:spPr>
            <a:xfrm>
              <a:off x="4954401" y="1097756"/>
              <a:ext cx="2283199" cy="220028"/>
            </a:xfrm>
            <a:prstGeom prst="rect">
              <a:avLst/>
            </a:prstGeom>
            <a:noFill/>
            <a:ln>
              <a:noFill/>
            </a:ln>
          </p:spPr>
          <p:txBody>
            <a:bodyPr wrap="none" lIns="0" tIns="0" rIns="0" bIns="0" anchor="t" anchorCtr="0">
              <a:spAutoFit/>
            </a:bodyPr>
            <a:lstStyle/>
            <a:p>
              <a:pPr algn="ctr"/>
              <a:r>
                <a:rPr lang="zh-CN" sz="1120" b="1" spc="150" dirty="0">
                  <a:solidFill>
                    <a:srgbClr val="B83A2E"/>
                  </a:solidFill>
                  <a:latin typeface="+mn-lt"/>
                  <a:ea typeface="+mn-ea"/>
                  <a:cs typeface="+mn-cs"/>
                </a:rPr>
                <a:t>非遗传承 · 印刷工艺课程设计</a:t>
              </a:r>
            </a:p>
          </p:txBody>
        </p:sp>
      </p:grpSp>
      <p:grpSp>
        <p:nvGrpSpPr>
          <p:cNvPr id="12" name="p01-title-group"/>
          <p:cNvGrpSpPr/>
          <p:nvPr/>
        </p:nvGrpSpPr>
        <p:grpSpPr>
          <a:xfrm>
            <a:off x="2931529" y="1864995"/>
            <a:ext cx="6328942" cy="1669161"/>
            <a:chOff x="2931529" y="1864995"/>
            <a:chExt cx="6328942" cy="1669161"/>
          </a:xfrm>
        </p:grpSpPr>
        <p:sp>
          <p:nvSpPr>
            <p:cNvPr id="7" name="TextBox 7"/>
            <p:cNvSpPr txBox="1"/>
            <p:nvPr/>
          </p:nvSpPr>
          <p:spPr>
            <a:xfrm>
              <a:off x="4664543" y="1864995"/>
              <a:ext cx="2862914" cy="762000"/>
            </a:xfrm>
            <a:prstGeom prst="rect">
              <a:avLst/>
            </a:prstGeom>
            <a:noFill/>
            <a:ln>
              <a:noFill/>
            </a:ln>
          </p:spPr>
          <p:txBody>
            <a:bodyPr wrap="none" lIns="0" tIns="0" rIns="0" bIns="0" anchor="t" anchorCtr="0">
              <a:spAutoFit/>
            </a:bodyPr>
            <a:lstStyle/>
            <a:p>
              <a:pPr algn="ctr"/>
              <a:r>
                <a:rPr lang="zh-CN" sz="3900" b="1" spc="300" dirty="0">
                  <a:solidFill>
                    <a:srgbClr val="B83A2E"/>
                  </a:solidFill>
                  <a:latin typeface="+mn-lt"/>
                  <a:ea typeface="+mn-ea"/>
                  <a:cs typeface="+mn-cs"/>
                </a:rPr>
                <a:t>针 韵 留 痕</a:t>
              </a:r>
            </a:p>
          </p:txBody>
        </p:sp>
        <p:sp>
          <p:nvSpPr>
            <p:cNvPr id="8" name="Line 8"/>
            <p:cNvSpPr/>
            <p:nvPr/>
          </p:nvSpPr>
          <p:spPr>
            <a:xfrm>
              <a:off x="4572000" y="2571750"/>
              <a:ext cx="3048000" cy="9525"/>
            </a:xfrm>
            <a:custGeom>
              <a:avLst/>
              <a:gdLst/>
              <a:ahLst/>
              <a:cxnLst/>
              <a:rect l="l" t="t" r="r" b="b"/>
              <a:pathLst>
                <a:path w="3048000" h="9525">
                  <a:moveTo>
                    <a:pt x="0" y="0"/>
                  </a:moveTo>
                  <a:lnTo>
                    <a:pt x="3048000" y="0"/>
                  </a:lnTo>
                </a:path>
              </a:pathLst>
            </a:custGeom>
            <a:noFill/>
            <a:ln w="19050">
              <a:solidFill>
                <a:srgbClr val="C4892B"/>
              </a:solidFill>
            </a:ln>
          </p:spPr>
        </p:sp>
        <p:sp>
          <p:nvSpPr>
            <p:cNvPr id="9" name="Ellipse 9"/>
            <p:cNvSpPr/>
            <p:nvPr/>
          </p:nvSpPr>
          <p:spPr>
            <a:xfrm>
              <a:off x="6048375" y="2524125"/>
              <a:ext cx="95250" cy="95250"/>
            </a:xfrm>
            <a:prstGeom prst="ellipse">
              <a:avLst/>
            </a:prstGeom>
            <a:solidFill>
              <a:srgbClr val="C4892B"/>
            </a:solidFill>
            <a:ln>
              <a:noFill/>
            </a:ln>
          </p:spPr>
        </p:sp>
        <p:sp>
          <p:nvSpPr>
            <p:cNvPr id="10" name="TextBox 10"/>
            <p:cNvSpPr txBox="1"/>
            <p:nvPr/>
          </p:nvSpPr>
          <p:spPr>
            <a:xfrm>
              <a:off x="3672268" y="2868930"/>
              <a:ext cx="4847463" cy="410718"/>
            </a:xfrm>
            <a:prstGeom prst="rect">
              <a:avLst/>
            </a:prstGeom>
            <a:noFill/>
            <a:ln>
              <a:noFill/>
            </a:ln>
          </p:spPr>
          <p:txBody>
            <a:bodyPr wrap="none" lIns="0" tIns="0" rIns="0" bIns="0" anchor="t" anchorCtr="0">
              <a:spAutoFit/>
            </a:bodyPr>
            <a:lstStyle/>
            <a:p>
              <a:pPr algn="ctr"/>
              <a:r>
                <a:rPr lang="zh-CN" sz="2100" b="1" spc="150" dirty="0">
                  <a:solidFill>
                    <a:srgbClr val="262220"/>
                  </a:solidFill>
                  <a:latin typeface="+mn-lt"/>
                  <a:ea typeface="+mn-ea"/>
                  <a:cs typeface="+mn-cs"/>
                </a:rPr>
                <a:t>汴绣传统纹样的提取与印刷转化设计</a:t>
              </a:r>
            </a:p>
          </p:txBody>
        </p:sp>
        <p:sp>
          <p:nvSpPr>
            <p:cNvPr id="11" name="TextBox 11"/>
            <p:cNvSpPr txBox="1"/>
            <p:nvPr/>
          </p:nvSpPr>
          <p:spPr>
            <a:xfrm>
              <a:off x="2931529" y="3299460"/>
              <a:ext cx="6328942" cy="234696"/>
            </a:xfrm>
            <a:prstGeom prst="rect">
              <a:avLst/>
            </a:prstGeom>
            <a:noFill/>
            <a:ln>
              <a:noFill/>
            </a:ln>
          </p:spPr>
          <p:txBody>
            <a:bodyPr wrap="none" lIns="0" tIns="0" rIns="0" bIns="0" anchor="t" anchorCtr="0">
              <a:spAutoFit/>
            </a:bodyPr>
            <a:lstStyle/>
            <a:p>
              <a:pPr algn="ctr"/>
              <a:r>
                <a:rPr lang="en-US" sz="1200" spc="75" dirty="0">
                  <a:solidFill>
                    <a:srgbClr val="7D766F"/>
                  </a:solidFill>
                  <a:latin typeface="+mn-lt"/>
                  <a:ea typeface="+mn-ea"/>
                  <a:cs typeface="+mn-cs"/>
                </a:rPr>
                <a:t>Traditional Bian Embroidery Pattern Extraction &amp; Print Transformation</a:t>
              </a:r>
            </a:p>
          </p:txBody>
        </p:sp>
      </p:grpSp>
      <p:grpSp>
        <p:nvGrpSpPr>
          <p:cNvPr id="16" name="p01-quote-group"/>
          <p:cNvGrpSpPr/>
          <p:nvPr/>
        </p:nvGrpSpPr>
        <p:grpSpPr>
          <a:xfrm>
            <a:off x="2286000" y="3810000"/>
            <a:ext cx="7620000" cy="1047750"/>
            <a:chOff x="2286000" y="3810000"/>
            <a:chExt cx="7620000" cy="1047750"/>
          </a:xfrm>
        </p:grpSpPr>
        <p:sp>
          <p:nvSpPr>
            <p:cNvPr id="13" name="Rectangle 13"/>
            <p:cNvSpPr/>
            <p:nvPr/>
          </p:nvSpPr>
          <p:spPr>
            <a:xfrm>
              <a:off x="2286000" y="3810000"/>
              <a:ext cx="7620000" cy="1047750"/>
            </a:xfrm>
            <a:prstGeom prst="roundRect">
              <a:avLst>
                <a:gd name="adj" fmla="val 7273"/>
              </a:avLst>
            </a:prstGeom>
            <a:solidFill>
              <a:srgbClr val="FFFFFF"/>
            </a:solidFill>
            <a:ln w="9525">
              <a:solidFill>
                <a:srgbClr val="E8E2D8"/>
              </a:solidFill>
            </a:ln>
          </p:spPr>
        </p:sp>
        <p:sp>
          <p:nvSpPr>
            <p:cNvPr id="14" name="Rectangle 14"/>
            <p:cNvSpPr/>
            <p:nvPr/>
          </p:nvSpPr>
          <p:spPr>
            <a:xfrm>
              <a:off x="2286000" y="3810000"/>
              <a:ext cx="57150" cy="1047750"/>
            </a:xfrm>
            <a:prstGeom prst="roundRect">
              <a:avLst>
                <a:gd name="adj" fmla="val 50000"/>
              </a:avLst>
            </a:prstGeom>
            <a:solidFill>
              <a:srgbClr val="B83A2E"/>
            </a:solidFill>
            <a:ln>
              <a:noFill/>
            </a:ln>
          </p:spPr>
        </p:sp>
        <p:sp>
          <p:nvSpPr>
            <p:cNvPr id="15" name="TextBox 15"/>
            <p:cNvSpPr txBox="1"/>
            <p:nvPr/>
          </p:nvSpPr>
          <p:spPr>
            <a:xfrm>
              <a:off x="2565654" y="4109085"/>
              <a:ext cx="4146042" cy="520446"/>
            </a:xfrm>
            <a:prstGeom prst="rect">
              <a:avLst/>
            </a:prstGeom>
            <a:noFill/>
            <a:ln>
              <a:noFill/>
            </a:ln>
          </p:spPr>
          <p:txBody>
            <a:bodyPr wrap="none" lIns="0" tIns="0" rIns="0" bIns="0" anchor="t" anchorCtr="0">
              <a:spAutoFit/>
            </a:bodyPr>
            <a:lstStyle/>
            <a:p>
              <a:pPr algn="l">
                <a:lnSpc>
                  <a:spcPts val="2250"/>
                </a:lnSpc>
              </a:pPr>
              <a:r>
                <a:rPr lang="zh-CN" sz="1200" dirty="0">
                  <a:solidFill>
                    <a:srgbClr val="4A4541"/>
                  </a:solidFill>
                  <a:latin typeface="+mn-lt"/>
                  <a:ea typeface="+mn-ea"/>
                  <a:cs typeface="+mn-cs"/>
                </a:rPr>
                <a:t>“以针代笔，以线晕色；融宋画之雅韵，赋当代之物用。”</a:t>
              </a:r>
            </a:p>
            <a:p>
              <a:pPr algn="l">
                <a:lnSpc>
                  <a:spcPts val="2250"/>
                </a:lnSpc>
              </a:pPr>
              <a:r>
                <a:rPr lang="zh-CN" sz="1050" dirty="0">
                  <a:solidFill>
                    <a:srgbClr val="7D766F"/>
                  </a:solidFill>
                  <a:latin typeface="+mn-lt"/>
                  <a:ea typeface="+mn-ea"/>
                  <a:cs typeface="+mn-cs"/>
                </a:rPr>
                <a:t>提炼千年汴绣经典图样，探索契合现代工业印刷的标准化平面视觉秩序</a:t>
              </a:r>
            </a:p>
          </p:txBody>
        </p:sp>
      </p:grpSp>
      <p:grpSp>
        <p:nvGrpSpPr>
          <p:cNvPr id="23" name="p01-meta-group"/>
          <p:cNvGrpSpPr/>
          <p:nvPr/>
        </p:nvGrpSpPr>
        <p:grpSpPr>
          <a:xfrm>
            <a:off x="2857500" y="5143500"/>
            <a:ext cx="6477000" cy="857250"/>
            <a:chOff x="2857500" y="5143500"/>
            <a:chExt cx="6477000" cy="857250"/>
          </a:xfrm>
        </p:grpSpPr>
        <p:sp>
          <p:nvSpPr>
            <p:cNvPr id="17" name="Rectangle 17"/>
            <p:cNvSpPr/>
            <p:nvPr/>
          </p:nvSpPr>
          <p:spPr>
            <a:xfrm>
              <a:off x="2857500" y="5143500"/>
              <a:ext cx="6477000" cy="857250"/>
            </a:xfrm>
            <a:prstGeom prst="roundRect">
              <a:avLst>
                <a:gd name="adj" fmla="val 50000"/>
              </a:avLst>
            </a:prstGeom>
            <a:solidFill>
              <a:srgbClr val="FFFFFF"/>
            </a:solidFill>
            <a:ln w="9525">
              <a:solidFill>
                <a:srgbClr val="E2D9CC"/>
              </a:solidFill>
            </a:ln>
          </p:spPr>
        </p:sp>
        <p:sp>
          <p:nvSpPr>
            <p:cNvPr id="18" name="TextBox 18"/>
            <p:cNvSpPr txBox="1"/>
            <p:nvPr/>
          </p:nvSpPr>
          <p:spPr>
            <a:xfrm>
              <a:off x="3475634" y="5509260"/>
              <a:ext cx="859231"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汇报人：</a:t>
              </a:r>
              <a:r>
                <a:rPr lang="en-US" sz="1200" dirty="0">
                  <a:solidFill>
                    <a:srgbClr val="262220"/>
                  </a:solidFill>
                  <a:latin typeface="+mn-lt"/>
                  <a:ea typeface="+mn-ea"/>
                  <a:cs typeface="+mn-cs"/>
                </a:rPr>
                <a:t>XXX</a:t>
              </a:r>
            </a:p>
          </p:txBody>
        </p:sp>
        <p:sp>
          <p:nvSpPr>
            <p:cNvPr id="19" name="Line 19"/>
            <p:cNvSpPr/>
            <p:nvPr/>
          </p:nvSpPr>
          <p:spPr>
            <a:xfrm>
              <a:off x="4953000" y="5381625"/>
              <a:ext cx="9525" cy="381000"/>
            </a:xfrm>
            <a:custGeom>
              <a:avLst/>
              <a:gdLst/>
              <a:ahLst/>
              <a:cxnLst/>
              <a:rect l="l" t="t" r="r" b="b"/>
              <a:pathLst>
                <a:path w="9525" h="381000">
                  <a:moveTo>
                    <a:pt x="0" y="0"/>
                  </a:moveTo>
                  <a:lnTo>
                    <a:pt x="0" y="381000"/>
                  </a:lnTo>
                </a:path>
              </a:pathLst>
            </a:custGeom>
            <a:noFill/>
            <a:ln w="9525">
              <a:solidFill>
                <a:srgbClr val="E2D9CC"/>
              </a:solidFill>
            </a:ln>
          </p:spPr>
        </p:sp>
        <p:sp>
          <p:nvSpPr>
            <p:cNvPr id="20" name="TextBox 20"/>
            <p:cNvSpPr txBox="1"/>
            <p:nvPr/>
          </p:nvSpPr>
          <p:spPr>
            <a:xfrm>
              <a:off x="5393246" y="5509260"/>
              <a:ext cx="1405509"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专业：</a:t>
              </a:r>
              <a:r>
                <a:rPr lang="zh-CN" sz="1200" dirty="0">
                  <a:solidFill>
                    <a:srgbClr val="262220"/>
                  </a:solidFill>
                  <a:latin typeface="+mn-lt"/>
                  <a:ea typeface="+mn-ea"/>
                  <a:cs typeface="+mn-cs"/>
                </a:rPr>
                <a:t>视觉传达设计</a:t>
              </a:r>
            </a:p>
          </p:txBody>
        </p:sp>
        <p:sp>
          <p:nvSpPr>
            <p:cNvPr id="21" name="Line 21"/>
            <p:cNvSpPr/>
            <p:nvPr/>
          </p:nvSpPr>
          <p:spPr>
            <a:xfrm>
              <a:off x="7239000" y="5381625"/>
              <a:ext cx="9525" cy="381000"/>
            </a:xfrm>
            <a:custGeom>
              <a:avLst/>
              <a:gdLst/>
              <a:ahLst/>
              <a:cxnLst/>
              <a:rect l="l" t="t" r="r" b="b"/>
              <a:pathLst>
                <a:path w="9525" h="381000">
                  <a:moveTo>
                    <a:pt x="0" y="0"/>
                  </a:moveTo>
                  <a:lnTo>
                    <a:pt x="0" y="381000"/>
                  </a:lnTo>
                </a:path>
              </a:pathLst>
            </a:custGeom>
            <a:noFill/>
            <a:ln w="9525">
              <a:solidFill>
                <a:srgbClr val="E2D9CC"/>
              </a:solidFill>
            </a:ln>
          </p:spPr>
        </p:sp>
        <p:sp>
          <p:nvSpPr>
            <p:cNvPr id="22" name="TextBox 22"/>
            <p:cNvSpPr txBox="1"/>
            <p:nvPr/>
          </p:nvSpPr>
          <p:spPr>
            <a:xfrm>
              <a:off x="7832560" y="5509260"/>
              <a:ext cx="717880"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班级：</a:t>
              </a:r>
              <a:r>
                <a:rPr lang="en-US" sz="1200" dirty="0">
                  <a:solidFill>
                    <a:srgbClr val="262220"/>
                  </a:solidFill>
                  <a:latin typeface="+mn-lt"/>
                  <a:ea typeface="+mn-ea"/>
                  <a:cs typeface="+mn-cs"/>
                </a:rPr>
                <a:t>XXX</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2-header"/>
          <p:cNvGrpSpPr/>
          <p:nvPr/>
        </p:nvGrpSpPr>
        <p:grpSpPr>
          <a:xfrm>
            <a:off x="560832" y="601028"/>
            <a:ext cx="11059668" cy="649795"/>
            <a:chOff x="560832" y="601028"/>
            <a:chExt cx="11059668" cy="649795"/>
          </a:xfrm>
        </p:grpSpPr>
        <p:sp>
          <p:nvSpPr>
            <p:cNvPr id="3" name="TextBox 3"/>
            <p:cNvSpPr txBox="1"/>
            <p:nvPr/>
          </p:nvSpPr>
          <p:spPr>
            <a:xfrm>
              <a:off x="566166" y="601028"/>
              <a:ext cx="881390" cy="205359"/>
            </a:xfrm>
            <a:prstGeom prst="rect">
              <a:avLst/>
            </a:prstGeom>
            <a:noFill/>
            <a:ln>
              <a:noFill/>
            </a:ln>
          </p:spPr>
          <p:txBody>
            <a:bodyPr wrap="none" lIns="0" tIns="0" rIns="0" bIns="0" anchor="t" anchorCtr="0">
              <a:spAutoFit/>
            </a:bodyPr>
            <a:lstStyle/>
            <a:p>
              <a:pPr algn="l"/>
              <a:r>
                <a:rPr lang="en-US" sz="1050" b="1" spc="150" dirty="0">
                  <a:solidFill>
                    <a:srgbClr val="B83A2E"/>
                  </a:solidFill>
                  <a:latin typeface="+mn-lt"/>
                  <a:ea typeface="+mn-ea"/>
                  <a:cs typeface="+mn-cs"/>
                </a:rPr>
                <a:t>CONTENTS</a:t>
              </a:r>
            </a:p>
          </p:txBody>
        </p:sp>
        <p:sp>
          <p:nvSpPr>
            <p:cNvPr id="4" name="TextBox 4"/>
            <p:cNvSpPr txBox="1"/>
            <p:nvPr/>
          </p:nvSpPr>
          <p:spPr>
            <a:xfrm>
              <a:off x="560832" y="840105"/>
              <a:ext cx="2058911"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目录 / 汇报脉络</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27" name="p02-left-col"/>
          <p:cNvGrpSpPr/>
          <p:nvPr/>
        </p:nvGrpSpPr>
        <p:grpSpPr>
          <a:xfrm>
            <a:off x="571500" y="1428750"/>
            <a:ext cx="5381625" cy="4714875"/>
            <a:chOff x="571500" y="1428750"/>
            <a:chExt cx="5381625" cy="4714875"/>
          </a:xfrm>
        </p:grpSpPr>
        <p:sp>
          <p:nvSpPr>
            <p:cNvPr id="7" name="Rectangle 7"/>
            <p:cNvSpPr/>
            <p:nvPr/>
          </p:nvSpPr>
          <p:spPr>
            <a:xfrm>
              <a:off x="571500" y="1428750"/>
              <a:ext cx="5381625" cy="1000125"/>
            </a:xfrm>
            <a:prstGeom prst="roundRect">
              <a:avLst>
                <a:gd name="adj" fmla="val 7619"/>
              </a:avLst>
            </a:prstGeom>
            <a:solidFill>
              <a:srgbClr val="FFFFFF"/>
            </a:solidFill>
            <a:ln w="9525">
              <a:solidFill>
                <a:srgbClr val="E8E2D8"/>
              </a:solidFill>
            </a:ln>
          </p:spPr>
        </p:sp>
        <p:sp>
          <p:nvSpPr>
            <p:cNvPr id="8" name="Rectangle 8"/>
            <p:cNvSpPr/>
            <p:nvPr/>
          </p:nvSpPr>
          <p:spPr>
            <a:xfrm>
              <a:off x="762000" y="1638300"/>
              <a:ext cx="428625" cy="428625"/>
            </a:xfrm>
            <a:prstGeom prst="roundRect">
              <a:avLst>
                <a:gd name="adj" fmla="val 13333"/>
              </a:avLst>
            </a:prstGeom>
            <a:solidFill>
              <a:srgbClr val="B83A2E"/>
            </a:solidFill>
            <a:ln>
              <a:noFill/>
            </a:ln>
          </p:spPr>
        </p:sp>
        <p:sp>
          <p:nvSpPr>
            <p:cNvPr id="9" name="TextBox 9"/>
            <p:cNvSpPr txBox="1"/>
            <p:nvPr/>
          </p:nvSpPr>
          <p:spPr>
            <a:xfrm>
              <a:off x="859739" y="177831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01</a:t>
              </a:r>
            </a:p>
          </p:txBody>
        </p:sp>
        <p:sp>
          <p:nvSpPr>
            <p:cNvPr id="10" name="TextBox 10"/>
            <p:cNvSpPr txBox="1"/>
            <p:nvPr/>
          </p:nvSpPr>
          <p:spPr>
            <a:xfrm>
              <a:off x="1374267" y="1683068"/>
              <a:ext cx="1649349"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课题背景与研究意义</a:t>
              </a:r>
            </a:p>
          </p:txBody>
        </p:sp>
        <p:sp>
          <p:nvSpPr>
            <p:cNvPr id="11" name="TextBox 11"/>
            <p:cNvSpPr txBox="1"/>
            <p:nvPr/>
          </p:nvSpPr>
          <p:spPr>
            <a:xfrm>
              <a:off x="1375791" y="2001202"/>
              <a:ext cx="2696337"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千年汴绣的非遗底蕴与现代平面的活化契机</a:t>
              </a:r>
            </a:p>
          </p:txBody>
        </p:sp>
        <p:sp>
          <p:nvSpPr>
            <p:cNvPr id="12" name="Rectangle 12"/>
            <p:cNvSpPr/>
            <p:nvPr/>
          </p:nvSpPr>
          <p:spPr>
            <a:xfrm>
              <a:off x="571500" y="2667000"/>
              <a:ext cx="5381625" cy="1000125"/>
            </a:xfrm>
            <a:prstGeom prst="roundRect">
              <a:avLst>
                <a:gd name="adj" fmla="val 7619"/>
              </a:avLst>
            </a:prstGeom>
            <a:solidFill>
              <a:srgbClr val="FFFFFF"/>
            </a:solidFill>
            <a:ln w="9525">
              <a:solidFill>
                <a:srgbClr val="E8E2D8"/>
              </a:solidFill>
            </a:ln>
          </p:spPr>
        </p:sp>
        <p:sp>
          <p:nvSpPr>
            <p:cNvPr id="13" name="Rectangle 13"/>
            <p:cNvSpPr/>
            <p:nvPr/>
          </p:nvSpPr>
          <p:spPr>
            <a:xfrm>
              <a:off x="762000" y="2876550"/>
              <a:ext cx="428625" cy="428625"/>
            </a:xfrm>
            <a:prstGeom prst="roundRect">
              <a:avLst>
                <a:gd name="adj" fmla="val 13333"/>
              </a:avLst>
            </a:prstGeom>
            <a:solidFill>
              <a:srgbClr val="2B5F75"/>
            </a:solidFill>
            <a:ln>
              <a:noFill/>
            </a:ln>
          </p:spPr>
        </p:sp>
        <p:sp>
          <p:nvSpPr>
            <p:cNvPr id="14" name="TextBox 14"/>
            <p:cNvSpPr txBox="1"/>
            <p:nvPr/>
          </p:nvSpPr>
          <p:spPr>
            <a:xfrm>
              <a:off x="859739" y="301656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02</a:t>
              </a:r>
            </a:p>
          </p:txBody>
        </p:sp>
        <p:sp>
          <p:nvSpPr>
            <p:cNvPr id="15" name="TextBox 15"/>
            <p:cNvSpPr txBox="1"/>
            <p:nvPr/>
          </p:nvSpPr>
          <p:spPr>
            <a:xfrm>
              <a:off x="1374267" y="2921318"/>
              <a:ext cx="1467612"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汴绣纹样特征调研</a:t>
              </a:r>
            </a:p>
          </p:txBody>
        </p:sp>
        <p:sp>
          <p:nvSpPr>
            <p:cNvPr id="16" name="TextBox 16"/>
            <p:cNvSpPr txBox="1"/>
            <p:nvPr/>
          </p:nvSpPr>
          <p:spPr>
            <a:xfrm>
              <a:off x="1375791" y="3239452"/>
              <a:ext cx="2554986"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宋画审美、吉祥题材意象与严谨构图章法</a:t>
              </a:r>
            </a:p>
          </p:txBody>
        </p:sp>
        <p:sp>
          <p:nvSpPr>
            <p:cNvPr id="17" name="Rectangle 17"/>
            <p:cNvSpPr/>
            <p:nvPr/>
          </p:nvSpPr>
          <p:spPr>
            <a:xfrm>
              <a:off x="571500" y="3905250"/>
              <a:ext cx="5381625" cy="1000125"/>
            </a:xfrm>
            <a:prstGeom prst="roundRect">
              <a:avLst>
                <a:gd name="adj" fmla="val 7619"/>
              </a:avLst>
            </a:prstGeom>
            <a:solidFill>
              <a:srgbClr val="FFFFFF"/>
            </a:solidFill>
            <a:ln w="9525">
              <a:solidFill>
                <a:srgbClr val="E8E2D8"/>
              </a:solidFill>
            </a:ln>
          </p:spPr>
        </p:sp>
        <p:sp>
          <p:nvSpPr>
            <p:cNvPr id="18" name="Rectangle 18"/>
            <p:cNvSpPr/>
            <p:nvPr/>
          </p:nvSpPr>
          <p:spPr>
            <a:xfrm>
              <a:off x="762000" y="4114800"/>
              <a:ext cx="428625" cy="428625"/>
            </a:xfrm>
            <a:prstGeom prst="roundRect">
              <a:avLst>
                <a:gd name="adj" fmla="val 13333"/>
              </a:avLst>
            </a:prstGeom>
            <a:solidFill>
              <a:srgbClr val="C4892B"/>
            </a:solidFill>
            <a:ln>
              <a:noFill/>
            </a:ln>
          </p:spPr>
        </p:sp>
        <p:sp>
          <p:nvSpPr>
            <p:cNvPr id="19" name="TextBox 19"/>
            <p:cNvSpPr txBox="1"/>
            <p:nvPr/>
          </p:nvSpPr>
          <p:spPr>
            <a:xfrm>
              <a:off x="859739" y="425481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03</a:t>
              </a:r>
            </a:p>
          </p:txBody>
        </p:sp>
        <p:sp>
          <p:nvSpPr>
            <p:cNvPr id="20" name="TextBox 20"/>
            <p:cNvSpPr txBox="1"/>
            <p:nvPr/>
          </p:nvSpPr>
          <p:spPr>
            <a:xfrm>
              <a:off x="1374267" y="4159568"/>
              <a:ext cx="1649349"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设计灵感与转化思路</a:t>
              </a:r>
            </a:p>
          </p:txBody>
        </p:sp>
        <p:sp>
          <p:nvSpPr>
            <p:cNvPr id="21" name="TextBox 21"/>
            <p:cNvSpPr txBox="1"/>
            <p:nvPr/>
          </p:nvSpPr>
          <p:spPr>
            <a:xfrm>
              <a:off x="1375791" y="4477702"/>
              <a:ext cx="2696337"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母题筛选、形态概括、秩序强化与色调统一</a:t>
              </a:r>
            </a:p>
          </p:txBody>
        </p:sp>
        <p:sp>
          <p:nvSpPr>
            <p:cNvPr id="22" name="Rectangle 22"/>
            <p:cNvSpPr/>
            <p:nvPr/>
          </p:nvSpPr>
          <p:spPr>
            <a:xfrm>
              <a:off x="571500" y="5143500"/>
              <a:ext cx="5381625" cy="1000125"/>
            </a:xfrm>
            <a:prstGeom prst="roundRect">
              <a:avLst>
                <a:gd name="adj" fmla="val 7619"/>
              </a:avLst>
            </a:prstGeom>
            <a:solidFill>
              <a:srgbClr val="FFFFFF"/>
            </a:solidFill>
            <a:ln w="9525">
              <a:solidFill>
                <a:srgbClr val="E8E2D8"/>
              </a:solidFill>
            </a:ln>
          </p:spPr>
        </p:sp>
        <p:sp>
          <p:nvSpPr>
            <p:cNvPr id="23" name="Rectangle 23"/>
            <p:cNvSpPr/>
            <p:nvPr/>
          </p:nvSpPr>
          <p:spPr>
            <a:xfrm>
              <a:off x="762000" y="5353050"/>
              <a:ext cx="428625" cy="428625"/>
            </a:xfrm>
            <a:prstGeom prst="roundRect">
              <a:avLst>
                <a:gd name="adj" fmla="val 13333"/>
              </a:avLst>
            </a:prstGeom>
            <a:solidFill>
              <a:srgbClr val="4A7C59"/>
            </a:solidFill>
            <a:ln>
              <a:noFill/>
            </a:ln>
          </p:spPr>
        </p:sp>
        <p:sp>
          <p:nvSpPr>
            <p:cNvPr id="24" name="TextBox 24"/>
            <p:cNvSpPr txBox="1"/>
            <p:nvPr/>
          </p:nvSpPr>
          <p:spPr>
            <a:xfrm>
              <a:off x="859739" y="549306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04</a:t>
              </a:r>
            </a:p>
          </p:txBody>
        </p:sp>
        <p:sp>
          <p:nvSpPr>
            <p:cNvPr id="25" name="TextBox 25"/>
            <p:cNvSpPr txBox="1"/>
            <p:nvPr/>
          </p:nvSpPr>
          <p:spPr>
            <a:xfrm>
              <a:off x="1374267" y="5397818"/>
              <a:ext cx="1467612"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系列纹样作品解读</a:t>
              </a:r>
            </a:p>
          </p:txBody>
        </p:sp>
        <p:sp>
          <p:nvSpPr>
            <p:cNvPr id="26" name="TextBox 26"/>
            <p:cNvSpPr txBox="1"/>
            <p:nvPr/>
          </p:nvSpPr>
          <p:spPr>
            <a:xfrm>
              <a:off x="1375791" y="5715952"/>
              <a:ext cx="2696337"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六组经典刺绣再造作品及设计构思全景解析</a:t>
              </a:r>
            </a:p>
          </p:txBody>
        </p:sp>
      </p:grpSp>
      <p:grpSp>
        <p:nvGrpSpPr>
          <p:cNvPr id="46" name="p02-right-col"/>
          <p:cNvGrpSpPr/>
          <p:nvPr/>
        </p:nvGrpSpPr>
        <p:grpSpPr>
          <a:xfrm>
            <a:off x="6238875" y="1428750"/>
            <a:ext cx="5381625" cy="4714875"/>
            <a:chOff x="6238875" y="1428750"/>
            <a:chExt cx="5381625" cy="4714875"/>
          </a:xfrm>
        </p:grpSpPr>
        <p:sp>
          <p:nvSpPr>
            <p:cNvPr id="28" name="Rectangle 28"/>
            <p:cNvSpPr/>
            <p:nvPr/>
          </p:nvSpPr>
          <p:spPr>
            <a:xfrm>
              <a:off x="6238875" y="1428750"/>
              <a:ext cx="5381625" cy="1000125"/>
            </a:xfrm>
            <a:prstGeom prst="roundRect">
              <a:avLst>
                <a:gd name="adj" fmla="val 7619"/>
              </a:avLst>
            </a:prstGeom>
            <a:solidFill>
              <a:srgbClr val="FFFFFF"/>
            </a:solidFill>
            <a:ln w="9525">
              <a:solidFill>
                <a:srgbClr val="E8E2D8"/>
              </a:solidFill>
            </a:ln>
          </p:spPr>
        </p:sp>
        <p:sp>
          <p:nvSpPr>
            <p:cNvPr id="29" name="Rectangle 29"/>
            <p:cNvSpPr/>
            <p:nvPr/>
          </p:nvSpPr>
          <p:spPr>
            <a:xfrm>
              <a:off x="6429375" y="1638300"/>
              <a:ext cx="428625" cy="428625"/>
            </a:xfrm>
            <a:prstGeom prst="roundRect">
              <a:avLst>
                <a:gd name="adj" fmla="val 13333"/>
              </a:avLst>
            </a:prstGeom>
            <a:solidFill>
              <a:srgbClr val="2B5F75"/>
            </a:solidFill>
            <a:ln>
              <a:noFill/>
            </a:ln>
          </p:spPr>
        </p:sp>
        <p:sp>
          <p:nvSpPr>
            <p:cNvPr id="30" name="TextBox 30"/>
            <p:cNvSpPr txBox="1"/>
            <p:nvPr/>
          </p:nvSpPr>
          <p:spPr>
            <a:xfrm>
              <a:off x="6527114" y="177831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05</a:t>
              </a:r>
            </a:p>
          </p:txBody>
        </p:sp>
        <p:sp>
          <p:nvSpPr>
            <p:cNvPr id="31" name="TextBox 31"/>
            <p:cNvSpPr txBox="1"/>
            <p:nvPr/>
          </p:nvSpPr>
          <p:spPr>
            <a:xfrm>
              <a:off x="7041642" y="1683068"/>
              <a:ext cx="1467612"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印刷工艺适配分析</a:t>
              </a:r>
            </a:p>
          </p:txBody>
        </p:sp>
        <p:sp>
          <p:nvSpPr>
            <p:cNvPr id="32" name="TextBox 32"/>
            <p:cNvSpPr txBox="1"/>
            <p:nvPr/>
          </p:nvSpPr>
          <p:spPr>
            <a:xfrm>
              <a:off x="7043166" y="2001202"/>
              <a:ext cx="2837688"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色块平涂、分色制版考量与油墨套色成本控制</a:t>
              </a:r>
            </a:p>
          </p:txBody>
        </p:sp>
        <p:sp>
          <p:nvSpPr>
            <p:cNvPr id="33" name="Rectangle 33"/>
            <p:cNvSpPr/>
            <p:nvPr/>
          </p:nvSpPr>
          <p:spPr>
            <a:xfrm>
              <a:off x="6238875" y="2667000"/>
              <a:ext cx="5381625" cy="1000125"/>
            </a:xfrm>
            <a:prstGeom prst="roundRect">
              <a:avLst>
                <a:gd name="adj" fmla="val 7619"/>
              </a:avLst>
            </a:prstGeom>
            <a:solidFill>
              <a:srgbClr val="FFFFFF"/>
            </a:solidFill>
            <a:ln w="9525">
              <a:solidFill>
                <a:srgbClr val="E8E2D8"/>
              </a:solidFill>
            </a:ln>
          </p:spPr>
        </p:sp>
        <p:sp>
          <p:nvSpPr>
            <p:cNvPr id="34" name="Rectangle 34"/>
            <p:cNvSpPr/>
            <p:nvPr/>
          </p:nvSpPr>
          <p:spPr>
            <a:xfrm>
              <a:off x="6429375" y="2876550"/>
              <a:ext cx="428625" cy="428625"/>
            </a:xfrm>
            <a:prstGeom prst="roundRect">
              <a:avLst>
                <a:gd name="adj" fmla="val 13333"/>
              </a:avLst>
            </a:prstGeom>
            <a:solidFill>
              <a:srgbClr val="B83A2E"/>
            </a:solidFill>
            <a:ln>
              <a:noFill/>
            </a:ln>
          </p:spPr>
        </p:sp>
        <p:sp>
          <p:nvSpPr>
            <p:cNvPr id="35" name="TextBox 35"/>
            <p:cNvSpPr txBox="1"/>
            <p:nvPr/>
          </p:nvSpPr>
          <p:spPr>
            <a:xfrm>
              <a:off x="6527114" y="301656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06</a:t>
              </a:r>
            </a:p>
          </p:txBody>
        </p:sp>
        <p:sp>
          <p:nvSpPr>
            <p:cNvPr id="36" name="TextBox 36"/>
            <p:cNvSpPr txBox="1"/>
            <p:nvPr/>
          </p:nvSpPr>
          <p:spPr>
            <a:xfrm>
              <a:off x="7041642" y="2921318"/>
              <a:ext cx="1467612"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收获、不足与展望</a:t>
              </a:r>
            </a:p>
          </p:txBody>
        </p:sp>
        <p:sp>
          <p:nvSpPr>
            <p:cNvPr id="37" name="TextBox 37"/>
            <p:cNvSpPr txBox="1"/>
            <p:nvPr/>
          </p:nvSpPr>
          <p:spPr>
            <a:xfrm>
              <a:off x="7043166" y="3239452"/>
              <a:ext cx="2837688"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工艺前置设计反思、现存局限与后续文创延展</a:t>
              </a:r>
            </a:p>
          </p:txBody>
        </p:sp>
        <p:sp>
          <p:nvSpPr>
            <p:cNvPr id="38" name="Rectangle 38"/>
            <p:cNvSpPr/>
            <p:nvPr/>
          </p:nvSpPr>
          <p:spPr>
            <a:xfrm>
              <a:off x="6238875" y="3905250"/>
              <a:ext cx="5381625" cy="1000125"/>
            </a:xfrm>
            <a:prstGeom prst="roundRect">
              <a:avLst>
                <a:gd name="adj" fmla="val 7619"/>
              </a:avLst>
            </a:prstGeom>
            <a:solidFill>
              <a:srgbClr val="FFFFFF"/>
            </a:solidFill>
            <a:ln w="9525">
              <a:solidFill>
                <a:srgbClr val="E8E2D8"/>
              </a:solidFill>
            </a:ln>
          </p:spPr>
        </p:sp>
        <p:sp>
          <p:nvSpPr>
            <p:cNvPr id="39" name="Rectangle 39"/>
            <p:cNvSpPr/>
            <p:nvPr/>
          </p:nvSpPr>
          <p:spPr>
            <a:xfrm>
              <a:off x="6429375" y="4114800"/>
              <a:ext cx="428625" cy="428625"/>
            </a:xfrm>
            <a:prstGeom prst="roundRect">
              <a:avLst>
                <a:gd name="adj" fmla="val 13333"/>
              </a:avLst>
            </a:prstGeom>
            <a:solidFill>
              <a:srgbClr val="C4892B"/>
            </a:solidFill>
            <a:ln>
              <a:noFill/>
            </a:ln>
          </p:spPr>
        </p:sp>
        <p:sp>
          <p:nvSpPr>
            <p:cNvPr id="40" name="TextBox 40"/>
            <p:cNvSpPr txBox="1"/>
            <p:nvPr/>
          </p:nvSpPr>
          <p:spPr>
            <a:xfrm>
              <a:off x="6527114" y="4254818"/>
              <a:ext cx="223622"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07</a:t>
              </a:r>
            </a:p>
          </p:txBody>
        </p:sp>
        <p:sp>
          <p:nvSpPr>
            <p:cNvPr id="41" name="TextBox 41"/>
            <p:cNvSpPr txBox="1"/>
            <p:nvPr/>
          </p:nvSpPr>
          <p:spPr>
            <a:xfrm>
              <a:off x="7041642" y="4159568"/>
              <a:ext cx="922401"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致谢与交流</a:t>
              </a:r>
            </a:p>
          </p:txBody>
        </p:sp>
        <p:sp>
          <p:nvSpPr>
            <p:cNvPr id="42" name="TextBox 42"/>
            <p:cNvSpPr txBox="1"/>
            <p:nvPr/>
          </p:nvSpPr>
          <p:spPr>
            <a:xfrm>
              <a:off x="7043166" y="4477702"/>
              <a:ext cx="2272284" cy="205359"/>
            </a:xfrm>
            <a:prstGeom prst="rect">
              <a:avLst/>
            </a:prstGeom>
            <a:noFill/>
            <a:ln>
              <a:noFill/>
            </a:ln>
          </p:spPr>
          <p:txBody>
            <a:bodyPr wrap="none" lIns="0" tIns="0" rIns="0" bIns="0" anchor="t" anchorCtr="0">
              <a:spAutoFit/>
            </a:bodyPr>
            <a:lstStyle/>
            <a:p>
              <a:pPr algn="l"/>
              <a:r>
                <a:rPr lang="zh-CN" sz="1050" dirty="0">
                  <a:solidFill>
                    <a:srgbClr val="7D766F"/>
                  </a:solidFill>
                  <a:latin typeface="+mn-lt"/>
                  <a:ea typeface="+mn-ea"/>
                  <a:cs typeface="+mn-cs"/>
                </a:rPr>
                <a:t>向课程指导老师致谢及答辩互动交流</a:t>
              </a:r>
            </a:p>
          </p:txBody>
        </p:sp>
        <p:sp>
          <p:nvSpPr>
            <p:cNvPr id="43" name="Rectangle 43"/>
            <p:cNvSpPr/>
            <p:nvPr/>
          </p:nvSpPr>
          <p:spPr>
            <a:xfrm>
              <a:off x="6238875" y="5143500"/>
              <a:ext cx="5381625" cy="1000125"/>
            </a:xfrm>
            <a:prstGeom prst="roundRect">
              <a:avLst>
                <a:gd name="adj" fmla="val 7619"/>
              </a:avLst>
            </a:prstGeom>
            <a:solidFill>
              <a:srgbClr val="F3EEE6"/>
            </a:solidFill>
            <a:ln w="9525">
              <a:solidFill>
                <a:srgbClr val="D8CDBF"/>
              </a:solidFill>
            </a:ln>
          </p:spPr>
        </p:sp>
        <p:sp>
          <p:nvSpPr>
            <p:cNvPr id="44" name="TextBox 44"/>
            <p:cNvSpPr txBox="1"/>
            <p:nvPr/>
          </p:nvSpPr>
          <p:spPr>
            <a:xfrm>
              <a:off x="6518910" y="5422106"/>
              <a:ext cx="1066851" cy="220028"/>
            </a:xfrm>
            <a:prstGeom prst="rect">
              <a:avLst/>
            </a:prstGeom>
            <a:noFill/>
            <a:ln>
              <a:noFill/>
            </a:ln>
          </p:spPr>
          <p:txBody>
            <a:bodyPr wrap="none" lIns="0" tIns="0" rIns="0" bIns="0" anchor="t" anchorCtr="0">
              <a:spAutoFit/>
            </a:bodyPr>
            <a:lstStyle/>
            <a:p>
              <a:pPr algn="l"/>
              <a:r>
                <a:rPr lang="zh-CN" sz="1120" b="1" dirty="0">
                  <a:solidFill>
                    <a:srgbClr val="B83A2E"/>
                  </a:solidFill>
                  <a:latin typeface="+mn-lt"/>
                  <a:ea typeface="+mn-ea"/>
                  <a:cs typeface="+mn-cs"/>
                </a:rPr>
                <a:t>课程核心导向：</a:t>
              </a:r>
            </a:p>
          </p:txBody>
        </p:sp>
        <p:sp>
          <p:nvSpPr>
            <p:cNvPr id="45" name="TextBox 45"/>
            <p:cNvSpPr txBox="1"/>
            <p:nvPr/>
          </p:nvSpPr>
          <p:spPr>
            <a:xfrm>
              <a:off x="6519291" y="5715952"/>
              <a:ext cx="3827145" cy="205359"/>
            </a:xfrm>
            <a:prstGeom prst="rect">
              <a:avLst/>
            </a:prstGeom>
            <a:noFill/>
            <a:ln>
              <a:noFill/>
            </a:ln>
          </p:spPr>
          <p:txBody>
            <a:bodyPr wrap="none" lIns="0" tIns="0" rIns="0" bIns="0" anchor="t" anchorCtr="0">
              <a:spAutoFit/>
            </a:bodyPr>
            <a:lstStyle/>
            <a:p>
              <a:pPr algn="l"/>
              <a:r>
                <a:rPr lang="zh-CN" sz="1050" dirty="0">
                  <a:solidFill>
                    <a:srgbClr val="4A4541"/>
                  </a:solidFill>
                  <a:latin typeface="+mn-lt"/>
                  <a:ea typeface="+mn-ea"/>
                  <a:cs typeface="+mn-cs"/>
                </a:rPr>
                <a:t>以印刷工艺技术边界引导视觉形式创新，实现艺术与工法统一</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3-header"/>
          <p:cNvGrpSpPr/>
          <p:nvPr/>
        </p:nvGrpSpPr>
        <p:grpSpPr>
          <a:xfrm>
            <a:off x="560832" y="601028"/>
            <a:ext cx="11059668" cy="649795"/>
            <a:chOff x="560832" y="601028"/>
            <a:chExt cx="11059668" cy="649795"/>
          </a:xfrm>
        </p:grpSpPr>
        <p:sp>
          <p:nvSpPr>
            <p:cNvPr id="3" name="TextBox 3"/>
            <p:cNvSpPr txBox="1"/>
            <p:nvPr/>
          </p:nvSpPr>
          <p:spPr>
            <a:xfrm>
              <a:off x="566166" y="601028"/>
              <a:ext cx="1711593"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01 课题背景与研究意义</a:t>
              </a:r>
            </a:p>
          </p:txBody>
        </p:sp>
        <p:sp>
          <p:nvSpPr>
            <p:cNvPr id="4" name="TextBox 4"/>
            <p:cNvSpPr txBox="1"/>
            <p:nvPr/>
          </p:nvSpPr>
          <p:spPr>
            <a:xfrm>
              <a:off x="560832" y="840105"/>
              <a:ext cx="3979164"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非遗瑰宝的当代活化与视觉探索</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12" name="p03-left-card"/>
          <p:cNvGrpSpPr/>
          <p:nvPr/>
        </p:nvGrpSpPr>
        <p:grpSpPr>
          <a:xfrm>
            <a:off x="571500" y="1381125"/>
            <a:ext cx="5381625" cy="4048125"/>
            <a:chOff x="571500" y="1381125"/>
            <a:chExt cx="5381625" cy="4048125"/>
          </a:xfrm>
        </p:grpSpPr>
        <p:sp>
          <p:nvSpPr>
            <p:cNvPr id="7" name="Rectangle 7"/>
            <p:cNvSpPr/>
            <p:nvPr/>
          </p:nvSpPr>
          <p:spPr>
            <a:xfrm>
              <a:off x="571500" y="1381125"/>
              <a:ext cx="5381625" cy="4048125"/>
            </a:xfrm>
            <a:prstGeom prst="roundRect">
              <a:avLst>
                <a:gd name="adj" fmla="val 1882"/>
              </a:avLst>
            </a:prstGeom>
            <a:solidFill>
              <a:srgbClr val="FFFFFF"/>
            </a:solidFill>
            <a:ln w="9525">
              <a:solidFill>
                <a:srgbClr val="E8E2D8"/>
              </a:solidFill>
            </a:ln>
          </p:spPr>
        </p:sp>
        <p:sp>
          <p:nvSpPr>
            <p:cNvPr id="8" name="Rectangle 8"/>
            <p:cNvSpPr/>
            <p:nvPr/>
          </p:nvSpPr>
          <p:spPr>
            <a:xfrm>
              <a:off x="571500" y="1381125"/>
              <a:ext cx="5381625" cy="457200"/>
            </a:xfrm>
            <a:prstGeom prst="roundRect">
              <a:avLst>
                <a:gd name="adj" fmla="val 16667"/>
              </a:avLst>
            </a:prstGeom>
            <a:solidFill>
              <a:srgbClr val="F3EEE6"/>
            </a:solidFill>
            <a:ln>
              <a:noFill/>
            </a:ln>
          </p:spPr>
        </p:sp>
        <p:sp>
          <p:nvSpPr>
            <p:cNvPr id="9" name="Ellipse 9"/>
            <p:cNvSpPr/>
            <p:nvPr/>
          </p:nvSpPr>
          <p:spPr>
            <a:xfrm>
              <a:off x="752475" y="1552575"/>
              <a:ext cx="114300" cy="114300"/>
            </a:xfrm>
            <a:prstGeom prst="ellipse">
              <a:avLst/>
            </a:prstGeom>
            <a:solidFill>
              <a:srgbClr val="B83A2E"/>
            </a:solidFill>
            <a:ln>
              <a:noFill/>
            </a:ln>
          </p:spPr>
        </p:sp>
        <p:sp>
          <p:nvSpPr>
            <p:cNvPr id="10" name="TextBox 10"/>
            <p:cNvSpPr txBox="1"/>
            <p:nvPr/>
          </p:nvSpPr>
          <p:spPr>
            <a:xfrm>
              <a:off x="993267" y="1521142"/>
              <a:ext cx="2012823"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汴绣历史渊源与审美价值</a:t>
              </a:r>
            </a:p>
          </p:txBody>
        </p:sp>
        <p:sp>
          <p:nvSpPr>
            <p:cNvPr id="11" name="TextBox 11"/>
            <p:cNvSpPr txBox="1"/>
            <p:nvPr/>
          </p:nvSpPr>
          <p:spPr>
            <a:xfrm>
              <a:off x="851535" y="2021681"/>
              <a:ext cx="4136390" cy="1839278"/>
            </a:xfrm>
            <a:prstGeom prst="rect">
              <a:avLst/>
            </a:prstGeom>
            <a:noFill/>
            <a:ln>
              <a:noFill/>
            </a:ln>
          </p:spPr>
          <p:txBody>
            <a:bodyPr wrap="none" lIns="0" tIns="0" rIns="0" bIns="0" anchor="t" anchorCtr="0">
              <a:spAutoFit/>
            </a:bodyPr>
            <a:lstStyle/>
            <a:p>
              <a:pPr algn="l" marL="126949" indent="-126949">
                <a:lnSpc>
                  <a:spcPts val="1875"/>
                </a:lnSpc>
                <a:buClr>
                  <a:srgbClr val="B83A2E"/>
                </a:buClr>
                <a:buSzTx/>
                <a:buFontTx/>
                <a:buChar char="●"/>
              </a:pPr>
              <a:r>
                <a:rPr lang="zh-CN" sz="1120" b="1" dirty="0">
                  <a:solidFill>
                    <a:srgbClr val="B83A2E"/>
                  </a:solidFill>
                  <a:latin typeface="+mn-lt"/>
                  <a:ea typeface="+mn-ea"/>
                  <a:cs typeface="+mn-cs"/>
                </a:rPr>
                <a:t>北宋盛极一时：</a:t>
              </a:r>
              <a:br/>
              <a:r>
                <a:rPr lang="zh-CN" sz="1120" dirty="0">
                  <a:solidFill>
                    <a:srgbClr val="4A4541"/>
                  </a:solidFill>
                  <a:latin typeface="+mn-lt"/>
                  <a:ea typeface="+mn-ea"/>
                  <a:cs typeface="+mn-cs"/>
                </a:rPr>
                <a:t>汴绣起源于北宋都城汴京，历史积淀深厚，刺绣工场林立。</a:t>
              </a:r>
            </a:p>
            <a:p>
              <a:pPr algn="l" marL="126949" indent="-126949">
                <a:lnSpc>
                  <a:spcPts val="1875"/>
                </a:lnSpc>
                <a:spcBef>
                  <a:spcPts val="750"/>
                </a:spcBef>
                <a:buClr>
                  <a:srgbClr val="B83A2E"/>
                </a:buClr>
                <a:buSzTx/>
                <a:buFontTx/>
                <a:buChar char="●"/>
              </a:pPr>
              <a:r>
                <a:rPr lang="zh-CN" sz="1120" b="1" dirty="0">
                  <a:solidFill>
                    <a:srgbClr val="B83A2E"/>
                  </a:solidFill>
                  <a:latin typeface="+mn-lt"/>
                  <a:ea typeface="+mn-ea"/>
                  <a:cs typeface="+mn-cs"/>
                </a:rPr>
                <a:t>宫廷与民俗兼融：</a:t>
              </a:r>
              <a:br/>
              <a:r>
                <a:rPr lang="zh-CN" sz="1120" dirty="0">
                  <a:solidFill>
                    <a:srgbClr val="4A4541"/>
                  </a:solidFill>
                  <a:latin typeface="+mn-lt"/>
                  <a:ea typeface="+mn-ea"/>
                  <a:cs typeface="+mn-cs"/>
                </a:rPr>
                <a:t>既供奉宋代皇家宫廷华服，又深深根植于民间器物与刺绣日用品。</a:t>
              </a:r>
            </a:p>
            <a:p>
              <a:pPr algn="l" marL="126949" indent="-126949">
                <a:lnSpc>
                  <a:spcPts val="1875"/>
                </a:lnSpc>
                <a:spcBef>
                  <a:spcPts val="750"/>
                </a:spcBef>
                <a:buClr>
                  <a:srgbClr val="B83A2E"/>
                </a:buClr>
                <a:buSzTx/>
                <a:buFontTx/>
                <a:buChar char="●"/>
              </a:pPr>
              <a:r>
                <a:rPr lang="zh-CN" sz="1120" b="1" dirty="0">
                  <a:solidFill>
                    <a:srgbClr val="B83A2E"/>
                  </a:solidFill>
                  <a:latin typeface="+mn-lt"/>
                  <a:ea typeface="+mn-ea"/>
                  <a:cs typeface="+mn-cs"/>
                </a:rPr>
                <a:t>审美底蕴深厚：</a:t>
              </a:r>
              <a:br/>
              <a:r>
                <a:rPr lang="zh-CN" sz="1120" dirty="0">
                  <a:solidFill>
                    <a:srgbClr val="4A4541"/>
                  </a:solidFill>
                  <a:latin typeface="+mn-lt"/>
                  <a:ea typeface="+mn-ea"/>
                  <a:cs typeface="+mn-cs"/>
                </a:rPr>
                <a:t>以绣代画，形神兼备。然而传统绣品偏向名贵观赏与孤品收藏，</a:t>
              </a:r>
              <a:br/>
              <a:r>
                <a:rPr lang="zh-CN" sz="1120" dirty="0">
                  <a:solidFill>
                    <a:srgbClr val="4A4541"/>
                  </a:solidFill>
                  <a:latin typeface="+mn-lt"/>
                  <a:ea typeface="+mn-ea"/>
                  <a:cs typeface="+mn-cs"/>
                </a:rPr>
                <a:t>手工制作周期漫长，难以直接适配大批量的现代视觉传播。</a:t>
              </a:r>
            </a:p>
          </p:txBody>
        </p:sp>
      </p:grpSp>
      <p:grpSp>
        <p:nvGrpSpPr>
          <p:cNvPr id="18" name="p03-right-card"/>
          <p:cNvGrpSpPr/>
          <p:nvPr/>
        </p:nvGrpSpPr>
        <p:grpSpPr>
          <a:xfrm>
            <a:off x="6238875" y="1381125"/>
            <a:ext cx="5381625" cy="4048125"/>
            <a:chOff x="6238875" y="1381125"/>
            <a:chExt cx="5381625" cy="4048125"/>
          </a:xfrm>
        </p:grpSpPr>
        <p:sp>
          <p:nvSpPr>
            <p:cNvPr id="13" name="Rectangle 13"/>
            <p:cNvSpPr/>
            <p:nvPr/>
          </p:nvSpPr>
          <p:spPr>
            <a:xfrm>
              <a:off x="6238875" y="1381125"/>
              <a:ext cx="5381625" cy="4048125"/>
            </a:xfrm>
            <a:prstGeom prst="roundRect">
              <a:avLst>
                <a:gd name="adj" fmla="val 1882"/>
              </a:avLst>
            </a:prstGeom>
            <a:solidFill>
              <a:srgbClr val="FFFFFF"/>
            </a:solidFill>
            <a:ln w="9525">
              <a:solidFill>
                <a:srgbClr val="E8E2D8"/>
              </a:solidFill>
            </a:ln>
          </p:spPr>
        </p:sp>
        <p:sp>
          <p:nvSpPr>
            <p:cNvPr id="14" name="Rectangle 14"/>
            <p:cNvSpPr/>
            <p:nvPr/>
          </p:nvSpPr>
          <p:spPr>
            <a:xfrm>
              <a:off x="6238875" y="1381125"/>
              <a:ext cx="5381625" cy="457200"/>
            </a:xfrm>
            <a:prstGeom prst="roundRect">
              <a:avLst>
                <a:gd name="adj" fmla="val 16667"/>
              </a:avLst>
            </a:prstGeom>
            <a:solidFill>
              <a:srgbClr val="F3EEE6"/>
            </a:solidFill>
            <a:ln>
              <a:noFill/>
            </a:ln>
          </p:spPr>
        </p:sp>
        <p:sp>
          <p:nvSpPr>
            <p:cNvPr id="15" name="Ellipse 15"/>
            <p:cNvSpPr/>
            <p:nvPr/>
          </p:nvSpPr>
          <p:spPr>
            <a:xfrm>
              <a:off x="6419850" y="1552575"/>
              <a:ext cx="114300" cy="114300"/>
            </a:xfrm>
            <a:prstGeom prst="ellipse">
              <a:avLst/>
            </a:prstGeom>
            <a:solidFill>
              <a:srgbClr val="2B5F75"/>
            </a:solidFill>
            <a:ln>
              <a:noFill/>
            </a:ln>
          </p:spPr>
        </p:sp>
        <p:sp>
          <p:nvSpPr>
            <p:cNvPr id="16" name="TextBox 16"/>
            <p:cNvSpPr txBox="1"/>
            <p:nvPr/>
          </p:nvSpPr>
          <p:spPr>
            <a:xfrm>
              <a:off x="6660642" y="1521142"/>
              <a:ext cx="2012823" cy="264033"/>
            </a:xfrm>
            <a:prstGeom prst="rect">
              <a:avLst/>
            </a:prstGeom>
            <a:noFill/>
            <a:ln>
              <a:noFill/>
            </a:ln>
          </p:spPr>
          <p:txBody>
            <a:bodyPr wrap="none" lIns="0" tIns="0" rIns="0" bIns="0" anchor="t" anchorCtr="0">
              <a:spAutoFit/>
            </a:bodyPr>
            <a:lstStyle/>
            <a:p>
              <a:pPr algn="l"/>
              <a:r>
                <a:rPr lang="zh-CN" sz="1350" b="1" dirty="0">
                  <a:solidFill>
                    <a:srgbClr val="262220"/>
                  </a:solidFill>
                  <a:latin typeface="+mn-lt"/>
                  <a:ea typeface="+mn-ea"/>
                  <a:cs typeface="+mn-cs"/>
                </a:rPr>
                <a:t>转化定位与核心研究思路</a:t>
              </a:r>
            </a:p>
          </p:txBody>
        </p:sp>
        <p:sp>
          <p:nvSpPr>
            <p:cNvPr id="17" name="TextBox 17"/>
            <p:cNvSpPr txBox="1"/>
            <p:nvPr/>
          </p:nvSpPr>
          <p:spPr>
            <a:xfrm>
              <a:off x="6518910" y="2021681"/>
              <a:ext cx="4136390" cy="1839278"/>
            </a:xfrm>
            <a:prstGeom prst="rect">
              <a:avLst/>
            </a:prstGeom>
            <a:noFill/>
            <a:ln>
              <a:noFill/>
            </a:ln>
          </p:spPr>
          <p:txBody>
            <a:bodyPr wrap="none" lIns="0" tIns="0" rIns="0" bIns="0" anchor="t" anchorCtr="0">
              <a:spAutoFit/>
            </a:bodyPr>
            <a:lstStyle/>
            <a:p>
              <a:pPr algn="l" marL="126949" indent="-126949">
                <a:lnSpc>
                  <a:spcPts val="1875"/>
                </a:lnSpc>
                <a:buClr>
                  <a:srgbClr val="2B5F75"/>
                </a:buClr>
                <a:buSzTx/>
                <a:buFontTx/>
                <a:buChar char="●"/>
              </a:pPr>
              <a:r>
                <a:rPr lang="zh-CN" sz="1120" b="1" dirty="0">
                  <a:solidFill>
                    <a:srgbClr val="2B5F75"/>
                  </a:solidFill>
                  <a:latin typeface="+mn-lt"/>
                  <a:ea typeface="+mn-ea"/>
                  <a:cs typeface="+mn-cs"/>
                </a:rPr>
                <a:t>非原物复刻，重在提炼：</a:t>
              </a:r>
              <a:br/>
              <a:r>
                <a:rPr lang="zh-CN" sz="1120" dirty="0">
                  <a:solidFill>
                    <a:srgbClr val="4A4541"/>
                  </a:solidFill>
                  <a:latin typeface="+mn-lt"/>
                  <a:ea typeface="+mn-ea"/>
                  <a:cs typeface="+mn-cs"/>
                </a:rPr>
                <a:t>不作浮于表面的仿古照搬，而是汲取其视觉养分与核心构图规律。</a:t>
              </a:r>
            </a:p>
            <a:p>
              <a:pPr algn="l" marL="126949" indent="-126949">
                <a:lnSpc>
                  <a:spcPts val="1875"/>
                </a:lnSpc>
                <a:spcBef>
                  <a:spcPts val="750"/>
                </a:spcBef>
                <a:buClr>
                  <a:srgbClr val="2B5F75"/>
                </a:buClr>
                <a:buSzTx/>
                <a:buFontTx/>
                <a:buChar char="●"/>
              </a:pPr>
              <a:r>
                <a:rPr lang="zh-CN" sz="1120" b="1" dirty="0">
                  <a:solidFill>
                    <a:srgbClr val="2B5F75"/>
                  </a:solidFill>
                  <a:latin typeface="+mn-lt"/>
                  <a:ea typeface="+mn-ea"/>
                  <a:cs typeface="+mn-cs"/>
                </a:rPr>
                <a:t>平面图形化再创作：</a:t>
              </a:r>
              <a:br/>
              <a:r>
                <a:rPr lang="zh-CN" sz="1120" dirty="0">
                  <a:solidFill>
                    <a:srgbClr val="4A4541"/>
                  </a:solidFill>
                  <a:latin typeface="+mn-lt"/>
                  <a:ea typeface="+mn-ea"/>
                  <a:cs typeface="+mn-cs"/>
                </a:rPr>
                <a:t>对复杂针法线条进行理性归纳，转化为清晰规整的现代矢量纹样。</a:t>
              </a:r>
            </a:p>
            <a:p>
              <a:pPr algn="l" marL="126949" indent="-126949">
                <a:lnSpc>
                  <a:spcPts val="1875"/>
                </a:lnSpc>
                <a:spcBef>
                  <a:spcPts val="750"/>
                </a:spcBef>
                <a:buClr>
                  <a:srgbClr val="2B5F75"/>
                </a:buClr>
                <a:buSzTx/>
                <a:buFontTx/>
                <a:buChar char="●"/>
              </a:pPr>
              <a:r>
                <a:rPr lang="zh-CN" sz="1120" b="1" dirty="0">
                  <a:solidFill>
                    <a:srgbClr val="2B5F75"/>
                  </a:solidFill>
                  <a:latin typeface="+mn-lt"/>
                  <a:ea typeface="+mn-ea"/>
                  <a:cs typeface="+mn-cs"/>
                </a:rPr>
                <a:t>工艺前置的设计思维：</a:t>
              </a:r>
              <a:br/>
              <a:r>
                <a:rPr lang="zh-CN" sz="1120" dirty="0">
                  <a:solidFill>
                    <a:srgbClr val="4A4541"/>
                  </a:solidFill>
                  <a:latin typeface="+mn-lt"/>
                  <a:ea typeface="+mn-ea"/>
                  <a:cs typeface="+mn-cs"/>
                </a:rPr>
                <a:t>在草图阶段即考虑印刷落地性（套色、分色制版、最小线宽）。</a:t>
              </a:r>
              <a:br/>
              <a:r>
                <a:rPr lang="zh-CN" sz="1120" dirty="0">
                  <a:solidFill>
                    <a:srgbClr val="4A4541"/>
                  </a:solidFill>
                  <a:latin typeface="+mn-lt"/>
                  <a:ea typeface="+mn-ea"/>
                  <a:cs typeface="+mn-cs"/>
                </a:rPr>
                <a:t>实现传统文化资源与现代视觉载体的有机统一。</a:t>
              </a:r>
            </a:p>
          </p:txBody>
        </p:sp>
      </p:grpSp>
      <p:grpSp>
        <p:nvGrpSpPr>
          <p:cNvPr id="23" name="p03-bottom-box"/>
          <p:cNvGrpSpPr/>
          <p:nvPr/>
        </p:nvGrpSpPr>
        <p:grpSpPr>
          <a:xfrm>
            <a:off x="571500" y="5572125"/>
            <a:ext cx="11049000" cy="762000"/>
            <a:chOff x="571500" y="5572125"/>
            <a:chExt cx="11049000" cy="762000"/>
          </a:xfrm>
        </p:grpSpPr>
        <p:sp>
          <p:nvSpPr>
            <p:cNvPr id="19" name="Rectangle 19"/>
            <p:cNvSpPr/>
            <p:nvPr/>
          </p:nvSpPr>
          <p:spPr>
            <a:xfrm>
              <a:off x="571500" y="5572125"/>
              <a:ext cx="11049000" cy="762000"/>
            </a:xfrm>
            <a:prstGeom prst="roundRect">
              <a:avLst>
                <a:gd name="adj" fmla="val 10000"/>
              </a:avLst>
            </a:prstGeom>
            <a:solidFill>
              <a:srgbClr val="F3EEE6"/>
            </a:solidFill>
            <a:ln w="9525">
              <a:solidFill>
                <a:srgbClr val="D8CDBF"/>
              </a:solidFill>
            </a:ln>
          </p:spPr>
        </p:sp>
        <p:sp>
          <p:nvSpPr>
            <p:cNvPr id="20" name="TextBox 20"/>
            <p:cNvSpPr txBox="1"/>
            <p:nvPr/>
          </p:nvSpPr>
          <p:spPr>
            <a:xfrm>
              <a:off x="851154" y="5795010"/>
              <a:ext cx="1143000" cy="234696"/>
            </a:xfrm>
            <a:prstGeom prst="rect">
              <a:avLst/>
            </a:prstGeom>
            <a:noFill/>
            <a:ln>
              <a:noFill/>
            </a:ln>
          </p:spPr>
          <p:txBody>
            <a:bodyPr wrap="none" lIns="0" tIns="0" rIns="0" bIns="0" anchor="t" anchorCtr="0">
              <a:spAutoFit/>
            </a:bodyPr>
            <a:lstStyle/>
            <a:p>
              <a:pPr algn="l"/>
              <a:r>
                <a:rPr lang="zh-CN" sz="1200" b="1" dirty="0">
                  <a:solidFill>
                    <a:srgbClr val="B83A2E"/>
                  </a:solidFill>
                  <a:latin typeface="+mn-lt"/>
                  <a:ea typeface="+mn-ea"/>
                  <a:cs typeface="+mn-cs"/>
                </a:rPr>
                <a:t>核心课题意义：</a:t>
              </a:r>
            </a:p>
          </p:txBody>
        </p:sp>
        <p:sp>
          <p:nvSpPr>
            <p:cNvPr id="21" name="TextBox 21"/>
            <p:cNvSpPr txBox="1"/>
            <p:nvPr/>
          </p:nvSpPr>
          <p:spPr>
            <a:xfrm>
              <a:off x="1994535" y="5803106"/>
              <a:ext cx="7263679" cy="220028"/>
            </a:xfrm>
            <a:prstGeom prst="rect">
              <a:avLst/>
            </a:prstGeom>
            <a:noFill/>
            <a:ln>
              <a:noFill/>
            </a:ln>
          </p:spPr>
          <p:txBody>
            <a:bodyPr wrap="none" lIns="0" tIns="0" rIns="0" bIns="0" anchor="t" anchorCtr="0">
              <a:spAutoFit/>
            </a:bodyPr>
            <a:lstStyle/>
            <a:p>
              <a:pPr algn="l"/>
              <a:r>
                <a:rPr lang="zh-CN" sz="1120" dirty="0">
                  <a:solidFill>
                    <a:srgbClr val="4A4541"/>
                  </a:solidFill>
                  <a:latin typeface="+mn-lt"/>
                  <a:ea typeface="+mn-ea"/>
                  <a:cs typeface="+mn-cs"/>
                </a:rPr>
                <a:t>打破非遗刺绣“孤品观赏”的受限语境，以现代印刷工艺赋能传统纹样，探索大批量文化产品落地的有效路径。</a:t>
              </a:r>
            </a:p>
          </p:txBody>
        </p:sp>
        <p:sp>
          <p:nvSpPr>
            <p:cNvPr id="22" name="TextBox 22"/>
            <p:cNvSpPr txBox="1"/>
            <p:nvPr/>
          </p:nvSpPr>
          <p:spPr>
            <a:xfrm>
              <a:off x="1995297" y="6066949"/>
              <a:ext cx="5277956" cy="190690"/>
            </a:xfrm>
            <a:prstGeom prst="rect">
              <a:avLst/>
            </a:prstGeom>
            <a:noFill/>
            <a:ln>
              <a:noFill/>
            </a:ln>
          </p:spPr>
          <p:txBody>
            <a:bodyPr wrap="none" lIns="0" tIns="0" rIns="0" bIns="0" anchor="t" anchorCtr="0">
              <a:spAutoFit/>
            </a:bodyPr>
            <a:lstStyle/>
            <a:p>
              <a:pPr algn="l"/>
              <a:r>
                <a:rPr lang="en-US" sz="980" dirty="0">
                  <a:solidFill>
                    <a:srgbClr val="7D766F"/>
                  </a:solidFill>
                  <a:latin typeface="+mn-lt"/>
                  <a:ea typeface="+mn-ea"/>
                  <a:cs typeface="+mn-cs"/>
                </a:rPr>
                <a:t>Connecting traditional craft culture with modern industrial production standards</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4-header"/>
          <p:cNvGrpSpPr/>
          <p:nvPr/>
        </p:nvGrpSpPr>
        <p:grpSpPr>
          <a:xfrm>
            <a:off x="560832" y="601028"/>
            <a:ext cx="11059668" cy="649795"/>
            <a:chOff x="560832" y="601028"/>
            <a:chExt cx="11059668" cy="649795"/>
          </a:xfrm>
        </p:grpSpPr>
        <p:sp>
          <p:nvSpPr>
            <p:cNvPr id="3" name="TextBox 3"/>
            <p:cNvSpPr txBox="1"/>
            <p:nvPr/>
          </p:nvSpPr>
          <p:spPr>
            <a:xfrm>
              <a:off x="566166" y="601028"/>
              <a:ext cx="1550049"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02 汴绣纹样特征调研</a:t>
              </a:r>
            </a:p>
          </p:txBody>
        </p:sp>
        <p:sp>
          <p:nvSpPr>
            <p:cNvPr id="4" name="TextBox 4"/>
            <p:cNvSpPr txBox="1"/>
            <p:nvPr/>
          </p:nvSpPr>
          <p:spPr>
            <a:xfrm>
              <a:off x="560832" y="840105"/>
              <a:ext cx="3696462"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传统艺术语言与图形秩序分析</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11" name="p04-card-1"/>
          <p:cNvGrpSpPr/>
          <p:nvPr/>
        </p:nvGrpSpPr>
        <p:grpSpPr>
          <a:xfrm>
            <a:off x="571500" y="1381125"/>
            <a:ext cx="3476625" cy="4048125"/>
            <a:chOff x="571500" y="1381125"/>
            <a:chExt cx="3476625" cy="4048125"/>
          </a:xfrm>
        </p:grpSpPr>
        <p:sp>
          <p:nvSpPr>
            <p:cNvPr id="7" name="Rectangle 7"/>
            <p:cNvSpPr/>
            <p:nvPr/>
          </p:nvSpPr>
          <p:spPr>
            <a:xfrm>
              <a:off x="571500" y="1381125"/>
              <a:ext cx="3476625" cy="4048125"/>
            </a:xfrm>
            <a:prstGeom prst="roundRect">
              <a:avLst>
                <a:gd name="adj" fmla="val 2192"/>
              </a:avLst>
            </a:prstGeom>
            <a:solidFill>
              <a:srgbClr val="FFFFFF"/>
            </a:solidFill>
            <a:ln w="9525">
              <a:solidFill>
                <a:srgbClr val="E8E2D8"/>
              </a:solidFill>
            </a:ln>
          </p:spPr>
        </p:sp>
        <p:sp>
          <p:nvSpPr>
            <p:cNvPr id="8" name="Rectangle 8"/>
            <p:cNvSpPr/>
            <p:nvPr/>
          </p:nvSpPr>
          <p:spPr>
            <a:xfrm>
              <a:off x="571500" y="1381125"/>
              <a:ext cx="3476625" cy="457200"/>
            </a:xfrm>
            <a:prstGeom prst="roundRect">
              <a:avLst>
                <a:gd name="adj" fmla="val 16667"/>
              </a:avLst>
            </a:prstGeom>
            <a:solidFill>
              <a:srgbClr val="F3EEE6"/>
            </a:solidFill>
            <a:ln>
              <a:noFill/>
            </a:ln>
          </p:spPr>
        </p:sp>
        <p:sp>
          <p:nvSpPr>
            <p:cNvPr id="9" name="TextBox 9"/>
            <p:cNvSpPr txBox="1"/>
            <p:nvPr/>
          </p:nvSpPr>
          <p:spPr>
            <a:xfrm>
              <a:off x="755523" y="1529239"/>
              <a:ext cx="1599531" cy="249364"/>
            </a:xfrm>
            <a:prstGeom prst="rect">
              <a:avLst/>
            </a:prstGeom>
            <a:noFill/>
            <a:ln>
              <a:noFill/>
            </a:ln>
          </p:spPr>
          <p:txBody>
            <a:bodyPr wrap="none" lIns="0" tIns="0" rIns="0" bIns="0" anchor="t" anchorCtr="0">
              <a:spAutoFit/>
            </a:bodyPr>
            <a:lstStyle/>
            <a:p>
              <a:pPr algn="l"/>
              <a:r>
                <a:rPr lang="zh-CN" sz="1280" b="1" dirty="0">
                  <a:solidFill>
                    <a:srgbClr val="B83A2E"/>
                  </a:solidFill>
                  <a:latin typeface="+mn-lt"/>
                  <a:ea typeface="+mn-ea"/>
                  <a:cs typeface="+mn-cs"/>
                </a:rPr>
                <a:t>一 · 题材意象与内涵</a:t>
              </a:r>
            </a:p>
          </p:txBody>
        </p:sp>
        <p:sp>
          <p:nvSpPr>
            <p:cNvPr id="10" name="TextBox 10"/>
            <p:cNvSpPr txBox="1"/>
            <p:nvPr/>
          </p:nvSpPr>
          <p:spPr>
            <a:xfrm>
              <a:off x="756666" y="2001202"/>
              <a:ext cx="2144268" cy="21294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偏爱吉祥瑞兽与花木：</a:t>
              </a:r>
            </a:p>
            <a:p>
              <a:pPr algn="l">
                <a:lnSpc>
                  <a:spcPts val="1500"/>
                </a:lnSpc>
                <a:spcBef>
                  <a:spcPts val="150"/>
                </a:spcBef>
              </a:pPr>
              <a:r>
                <a:rPr lang="zh-CN" sz="1050" dirty="0">
                  <a:solidFill>
                    <a:srgbClr val="4A4541"/>
                  </a:solidFill>
                  <a:latin typeface="+mn-lt"/>
                  <a:ea typeface="+mn-ea"/>
                  <a:cs typeface="+mn-cs"/>
                </a:rPr>
                <a:t>深受宋代写意花鸟画熏陶，以“图必</a:t>
              </a:r>
              <a:br/>
              <a:r>
                <a:rPr lang="zh-CN" sz="1050" dirty="0">
                  <a:solidFill>
                    <a:srgbClr val="4A4541"/>
                  </a:solidFill>
                  <a:latin typeface="+mn-lt"/>
                  <a:ea typeface="+mn-ea"/>
                  <a:cs typeface="+mn-cs"/>
                </a:rPr>
                <a:t>有意，意必吉祥”为核心艺术准则。</a:t>
              </a:r>
            </a:p>
            <a:p>
              <a:pPr algn="l">
                <a:lnSpc>
                  <a:spcPts val="1500"/>
                </a:lnSpc>
                <a:spcBef>
                  <a:spcPts val="600"/>
                </a:spcBef>
              </a:pPr>
              <a:r>
                <a:rPr lang="zh-CN" sz="1050" b="1" dirty="0">
                  <a:solidFill>
                    <a:srgbClr val="262220"/>
                  </a:solidFill>
                  <a:latin typeface="+mn-lt"/>
                  <a:ea typeface="+mn-ea"/>
                  <a:cs typeface="+mn-cs"/>
                </a:rPr>
                <a:t>代表性经典母题：</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双鱼纹：富贵双全、年年有余</a:t>
              </a:r>
              <a:br/>
              <a:r>
                <a:rPr lang="zh-CN" sz="1050" dirty="0">
                  <a:solidFill>
                    <a:srgbClr val="4A4541"/>
                  </a:solidFill>
                  <a:latin typeface="+mn-lt"/>
                  <a:ea typeface="+mn-ea"/>
                  <a:cs typeface="+mn-cs"/>
                </a:rPr>
                <a:t>● 宝相花：庄严圣洁、圆满吉祥</a:t>
              </a:r>
              <a:br/>
              <a:r>
                <a:rPr lang="zh-CN" sz="1050" dirty="0">
                  <a:solidFill>
                    <a:srgbClr val="4A4541"/>
                  </a:solidFill>
                  <a:latin typeface="+mn-lt"/>
                  <a:ea typeface="+mn-ea"/>
                  <a:cs typeface="+mn-cs"/>
                </a:rPr>
                <a:t>● 缠枝花卉：生生不息、脉络连绵</a:t>
              </a:r>
              <a:br/>
              <a:r>
                <a:rPr lang="zh-CN" sz="1050" dirty="0">
                  <a:solidFill>
                    <a:srgbClr val="4A4541"/>
                  </a:solidFill>
                  <a:latin typeface="+mn-lt"/>
                  <a:ea typeface="+mn-ea"/>
                  <a:cs typeface="+mn-cs"/>
                </a:rPr>
                <a:t>● 祥云卷草：气韵通达、绵长福顺</a:t>
              </a:r>
            </a:p>
            <a:p>
              <a:pPr algn="l">
                <a:lnSpc>
                  <a:spcPts val="1500"/>
                </a:lnSpc>
                <a:spcBef>
                  <a:spcPts val="600"/>
                </a:spcBef>
              </a:pPr>
              <a:r>
                <a:rPr lang="zh-CN" sz="1050" b="1" dirty="0">
                  <a:solidFill>
                    <a:srgbClr val="262220"/>
                  </a:solidFill>
                  <a:latin typeface="+mn-lt"/>
                  <a:ea typeface="+mn-ea"/>
                  <a:cs typeface="+mn-cs"/>
                </a:rPr>
                <a:t>图形转化启示：</a:t>
              </a:r>
            </a:p>
            <a:p>
              <a:pPr algn="l">
                <a:lnSpc>
                  <a:spcPts val="1500"/>
                </a:lnSpc>
                <a:spcBef>
                  <a:spcPts val="150"/>
                </a:spcBef>
              </a:pPr>
              <a:r>
                <a:rPr lang="zh-CN" sz="1050" dirty="0">
                  <a:solidFill>
                    <a:srgbClr val="4A4541"/>
                  </a:solidFill>
                  <a:latin typeface="+mn-lt"/>
                  <a:ea typeface="+mn-ea"/>
                  <a:cs typeface="+mn-cs"/>
                </a:rPr>
                <a:t>保留母题核心隐喻，提炼骨骼动态。</a:t>
              </a:r>
            </a:p>
          </p:txBody>
        </p:sp>
      </p:grpSp>
      <p:grpSp>
        <p:nvGrpSpPr>
          <p:cNvPr id="16" name="p04-card-2"/>
          <p:cNvGrpSpPr/>
          <p:nvPr/>
        </p:nvGrpSpPr>
        <p:grpSpPr>
          <a:xfrm>
            <a:off x="4333875" y="1381125"/>
            <a:ext cx="3524250" cy="4048125"/>
            <a:chOff x="4333875" y="1381125"/>
            <a:chExt cx="3524250" cy="4048125"/>
          </a:xfrm>
        </p:grpSpPr>
        <p:sp>
          <p:nvSpPr>
            <p:cNvPr id="12" name="Rectangle 12"/>
            <p:cNvSpPr/>
            <p:nvPr/>
          </p:nvSpPr>
          <p:spPr>
            <a:xfrm>
              <a:off x="4333875" y="1381125"/>
              <a:ext cx="3524250" cy="4048125"/>
            </a:xfrm>
            <a:prstGeom prst="roundRect">
              <a:avLst>
                <a:gd name="adj" fmla="val 2162"/>
              </a:avLst>
            </a:prstGeom>
            <a:solidFill>
              <a:srgbClr val="FFFFFF"/>
            </a:solidFill>
            <a:ln w="9525">
              <a:solidFill>
                <a:srgbClr val="E8E2D8"/>
              </a:solidFill>
            </a:ln>
          </p:spPr>
        </p:sp>
        <p:sp>
          <p:nvSpPr>
            <p:cNvPr id="13" name="Rectangle 13"/>
            <p:cNvSpPr/>
            <p:nvPr/>
          </p:nvSpPr>
          <p:spPr>
            <a:xfrm>
              <a:off x="4333875" y="1381125"/>
              <a:ext cx="3524250" cy="457200"/>
            </a:xfrm>
            <a:prstGeom prst="roundRect">
              <a:avLst>
                <a:gd name="adj" fmla="val 16667"/>
              </a:avLst>
            </a:prstGeom>
            <a:solidFill>
              <a:srgbClr val="F3EEE6"/>
            </a:solidFill>
            <a:ln>
              <a:noFill/>
            </a:ln>
          </p:spPr>
        </p:sp>
        <p:sp>
          <p:nvSpPr>
            <p:cNvPr id="14" name="TextBox 14"/>
            <p:cNvSpPr txBox="1"/>
            <p:nvPr/>
          </p:nvSpPr>
          <p:spPr>
            <a:xfrm>
              <a:off x="4517898" y="1529239"/>
              <a:ext cx="1599531" cy="249364"/>
            </a:xfrm>
            <a:prstGeom prst="rect">
              <a:avLst/>
            </a:prstGeom>
            <a:noFill/>
            <a:ln>
              <a:noFill/>
            </a:ln>
          </p:spPr>
          <p:txBody>
            <a:bodyPr wrap="none" lIns="0" tIns="0" rIns="0" bIns="0" anchor="t" anchorCtr="0">
              <a:spAutoFit/>
            </a:bodyPr>
            <a:lstStyle/>
            <a:p>
              <a:pPr algn="l"/>
              <a:r>
                <a:rPr lang="zh-CN" sz="1280" b="1" dirty="0">
                  <a:solidFill>
                    <a:srgbClr val="2B5F75"/>
                  </a:solidFill>
                  <a:latin typeface="+mn-lt"/>
                  <a:ea typeface="+mn-ea"/>
                  <a:cs typeface="+mn-cs"/>
                </a:rPr>
                <a:t>二 · 构图章法与结构</a:t>
              </a:r>
            </a:p>
          </p:txBody>
        </p:sp>
        <p:sp>
          <p:nvSpPr>
            <p:cNvPr id="15" name="TextBox 15"/>
            <p:cNvSpPr txBox="1"/>
            <p:nvPr/>
          </p:nvSpPr>
          <p:spPr>
            <a:xfrm>
              <a:off x="4519041" y="2001202"/>
              <a:ext cx="2144268" cy="21294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偏好均衡与秩序感：</a:t>
              </a:r>
            </a:p>
            <a:p>
              <a:pPr algn="l">
                <a:lnSpc>
                  <a:spcPts val="1500"/>
                </a:lnSpc>
                <a:spcBef>
                  <a:spcPts val="150"/>
                </a:spcBef>
              </a:pPr>
              <a:r>
                <a:rPr lang="zh-CN" sz="1050" dirty="0">
                  <a:solidFill>
                    <a:srgbClr val="4A4541"/>
                  </a:solidFill>
                  <a:latin typeface="+mn-lt"/>
                  <a:ea typeface="+mn-ea"/>
                  <a:cs typeface="+mn-cs"/>
                </a:rPr>
                <a:t>章法讲求气韵贯通，外形圆融端正，</a:t>
              </a:r>
              <a:br/>
              <a:r>
                <a:rPr lang="zh-CN" sz="1050" dirty="0">
                  <a:solidFill>
                    <a:srgbClr val="4A4541"/>
                  </a:solidFill>
                  <a:latin typeface="+mn-lt"/>
                  <a:ea typeface="+mn-ea"/>
                  <a:cs typeface="+mn-cs"/>
                </a:rPr>
                <a:t>内部虚实相映，呈现内敛稳定美感。</a:t>
              </a:r>
            </a:p>
            <a:p>
              <a:pPr algn="l">
                <a:lnSpc>
                  <a:spcPts val="1500"/>
                </a:lnSpc>
                <a:spcBef>
                  <a:spcPts val="600"/>
                </a:spcBef>
              </a:pPr>
              <a:r>
                <a:rPr lang="zh-CN" sz="1050" b="1" dirty="0">
                  <a:solidFill>
                    <a:srgbClr val="262220"/>
                  </a:solidFill>
                  <a:latin typeface="+mn-lt"/>
                  <a:ea typeface="+mn-ea"/>
                  <a:cs typeface="+mn-cs"/>
                </a:rPr>
                <a:t>成熟的传统形制：</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团花构图：向心放射、四方对称</a:t>
              </a:r>
              <a:br/>
              <a:r>
                <a:rPr lang="zh-CN" sz="1050" dirty="0">
                  <a:solidFill>
                    <a:srgbClr val="4A4541"/>
                  </a:solidFill>
                  <a:latin typeface="+mn-lt"/>
                  <a:ea typeface="+mn-ea"/>
                  <a:cs typeface="+mn-cs"/>
                </a:rPr>
                <a:t>● 边饰纹样：二方连续、横纵延展</a:t>
              </a:r>
              <a:br/>
              <a:r>
                <a:rPr lang="zh-CN" sz="1050" dirty="0">
                  <a:solidFill>
                    <a:srgbClr val="4A4541"/>
                  </a:solidFill>
                  <a:latin typeface="+mn-lt"/>
                  <a:ea typeface="+mn-ea"/>
                  <a:cs typeface="+mn-cs"/>
                </a:rPr>
                <a:t>● 适合纹样：外廓限定、巧妙填空</a:t>
              </a:r>
              <a:br/>
              <a:r>
                <a:rPr lang="zh-CN" sz="1050" dirty="0">
                  <a:solidFill>
                    <a:srgbClr val="4A4541"/>
                  </a:solidFill>
                  <a:latin typeface="+mn-lt"/>
                  <a:ea typeface="+mn-ea"/>
                  <a:cs typeface="+mn-cs"/>
                </a:rPr>
                <a:t>● 竖向对称：中轴平衡、纵向舒展</a:t>
              </a:r>
            </a:p>
            <a:p>
              <a:pPr algn="l">
                <a:lnSpc>
                  <a:spcPts val="1500"/>
                </a:lnSpc>
                <a:spcBef>
                  <a:spcPts val="600"/>
                </a:spcBef>
              </a:pPr>
              <a:r>
                <a:rPr lang="zh-CN" sz="1050" b="1" dirty="0">
                  <a:solidFill>
                    <a:srgbClr val="262220"/>
                  </a:solidFill>
                  <a:latin typeface="+mn-lt"/>
                  <a:ea typeface="+mn-ea"/>
                  <a:cs typeface="+mn-cs"/>
                </a:rPr>
                <a:t>图形转化启示：</a:t>
              </a:r>
            </a:p>
            <a:p>
              <a:pPr algn="l">
                <a:lnSpc>
                  <a:spcPts val="1500"/>
                </a:lnSpc>
                <a:spcBef>
                  <a:spcPts val="150"/>
                </a:spcBef>
              </a:pPr>
              <a:r>
                <a:rPr lang="zh-CN" sz="1050" dirty="0">
                  <a:solidFill>
                    <a:srgbClr val="4A4541"/>
                  </a:solidFill>
                  <a:latin typeface="+mn-lt"/>
                  <a:ea typeface="+mn-ea"/>
                  <a:cs typeface="+mn-cs"/>
                </a:rPr>
                <a:t>建立网格骨骼，强化边缘对称性。</a:t>
              </a:r>
            </a:p>
          </p:txBody>
        </p:sp>
      </p:grpSp>
      <p:grpSp>
        <p:nvGrpSpPr>
          <p:cNvPr id="21" name="p04-card-3"/>
          <p:cNvGrpSpPr/>
          <p:nvPr/>
        </p:nvGrpSpPr>
        <p:grpSpPr>
          <a:xfrm>
            <a:off x="8143875" y="1381125"/>
            <a:ext cx="3476625" cy="4048125"/>
            <a:chOff x="8143875" y="1381125"/>
            <a:chExt cx="3476625" cy="4048125"/>
          </a:xfrm>
        </p:grpSpPr>
        <p:sp>
          <p:nvSpPr>
            <p:cNvPr id="17" name="Rectangle 17"/>
            <p:cNvSpPr/>
            <p:nvPr/>
          </p:nvSpPr>
          <p:spPr>
            <a:xfrm>
              <a:off x="8143875" y="1381125"/>
              <a:ext cx="3476625" cy="4048125"/>
            </a:xfrm>
            <a:prstGeom prst="roundRect">
              <a:avLst>
                <a:gd name="adj" fmla="val 2192"/>
              </a:avLst>
            </a:prstGeom>
            <a:solidFill>
              <a:srgbClr val="FFFFFF"/>
            </a:solidFill>
            <a:ln w="9525">
              <a:solidFill>
                <a:srgbClr val="E8E2D8"/>
              </a:solidFill>
            </a:ln>
          </p:spPr>
        </p:sp>
        <p:sp>
          <p:nvSpPr>
            <p:cNvPr id="18" name="Rectangle 18"/>
            <p:cNvSpPr/>
            <p:nvPr/>
          </p:nvSpPr>
          <p:spPr>
            <a:xfrm>
              <a:off x="8143875" y="1381125"/>
              <a:ext cx="3476625" cy="457200"/>
            </a:xfrm>
            <a:prstGeom prst="roundRect">
              <a:avLst>
                <a:gd name="adj" fmla="val 16667"/>
              </a:avLst>
            </a:prstGeom>
            <a:solidFill>
              <a:srgbClr val="F3EEE6"/>
            </a:solidFill>
            <a:ln>
              <a:noFill/>
            </a:ln>
          </p:spPr>
        </p:sp>
        <p:sp>
          <p:nvSpPr>
            <p:cNvPr id="19" name="TextBox 19"/>
            <p:cNvSpPr txBox="1"/>
            <p:nvPr/>
          </p:nvSpPr>
          <p:spPr>
            <a:xfrm>
              <a:off x="8327898" y="1529239"/>
              <a:ext cx="1599531" cy="249364"/>
            </a:xfrm>
            <a:prstGeom prst="rect">
              <a:avLst/>
            </a:prstGeom>
            <a:noFill/>
            <a:ln>
              <a:noFill/>
            </a:ln>
          </p:spPr>
          <p:txBody>
            <a:bodyPr wrap="none" lIns="0" tIns="0" rIns="0" bIns="0" anchor="t" anchorCtr="0">
              <a:spAutoFit/>
            </a:bodyPr>
            <a:lstStyle/>
            <a:p>
              <a:pPr algn="l"/>
              <a:r>
                <a:rPr lang="zh-CN" sz="1280" b="1" dirty="0">
                  <a:solidFill>
                    <a:srgbClr val="C4892B"/>
                  </a:solidFill>
                  <a:latin typeface="+mn-lt"/>
                  <a:ea typeface="+mn-ea"/>
                  <a:cs typeface="+mn-cs"/>
                </a:rPr>
                <a:t>三 · 色彩气质与质感</a:t>
              </a:r>
            </a:p>
          </p:txBody>
        </p:sp>
        <p:sp>
          <p:nvSpPr>
            <p:cNvPr id="20" name="TextBox 20"/>
            <p:cNvSpPr txBox="1"/>
            <p:nvPr/>
          </p:nvSpPr>
          <p:spPr>
            <a:xfrm>
              <a:off x="8329041" y="2001202"/>
              <a:ext cx="2277618" cy="21294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中原民俗审美气象：</a:t>
              </a:r>
            </a:p>
            <a:p>
              <a:pPr algn="l">
                <a:lnSpc>
                  <a:spcPts val="1500"/>
                </a:lnSpc>
                <a:spcBef>
                  <a:spcPts val="150"/>
                </a:spcBef>
              </a:pPr>
              <a:r>
                <a:rPr lang="zh-CN" sz="1050" dirty="0">
                  <a:solidFill>
                    <a:srgbClr val="4A4541"/>
                  </a:solidFill>
                  <a:latin typeface="+mn-lt"/>
                  <a:ea typeface="+mn-ea"/>
                  <a:cs typeface="+mn-cs"/>
                </a:rPr>
                <a:t>色相对比鲜明夺目，兼具宋画的淡雅</a:t>
              </a:r>
              <a:br/>
              <a:r>
                <a:rPr lang="zh-CN" sz="1050" dirty="0">
                  <a:solidFill>
                    <a:srgbClr val="4A4541"/>
                  </a:solidFill>
                  <a:latin typeface="+mn-lt"/>
                  <a:ea typeface="+mn-ea"/>
                  <a:cs typeface="+mn-cs"/>
                </a:rPr>
                <a:t>含蓄与民间的浓烈喜庆，气度醇厚。</a:t>
              </a:r>
            </a:p>
            <a:p>
              <a:pPr algn="l">
                <a:lnSpc>
                  <a:spcPts val="1500"/>
                </a:lnSpc>
                <a:spcBef>
                  <a:spcPts val="600"/>
                </a:spcBef>
              </a:pPr>
              <a:r>
                <a:rPr lang="zh-CN" sz="1050" b="1" dirty="0">
                  <a:solidFill>
                    <a:srgbClr val="262220"/>
                  </a:solidFill>
                  <a:latin typeface="+mn-lt"/>
                  <a:ea typeface="+mn-ea"/>
                  <a:cs typeface="+mn-cs"/>
                </a:rPr>
                <a:t>标志性设色体系：</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朱砂红：主体点睛，喜庆浓烈</a:t>
              </a:r>
              <a:br/>
              <a:r>
                <a:rPr lang="zh-CN" sz="1050" dirty="0">
                  <a:solidFill>
                    <a:srgbClr val="4A4541"/>
                  </a:solidFill>
                  <a:latin typeface="+mn-lt"/>
                  <a:ea typeface="+mn-ea"/>
                  <a:cs typeface="+mn-cs"/>
                </a:rPr>
                <a:t>● 矿物蓝：稳重深邃，沉着压阵</a:t>
              </a:r>
              <a:br/>
              <a:r>
                <a:rPr lang="zh-CN" sz="1050" dirty="0">
                  <a:solidFill>
                    <a:srgbClr val="4A4541"/>
                  </a:solidFill>
                  <a:latin typeface="+mn-lt"/>
                  <a:ea typeface="+mn-ea"/>
                  <a:cs typeface="+mn-cs"/>
                </a:rPr>
                <a:t>● 藤黄色：灿然辉映，调和冷暖</a:t>
              </a:r>
              <a:br/>
              <a:r>
                <a:rPr lang="zh-CN" sz="1050" dirty="0">
                  <a:solidFill>
                    <a:srgbClr val="4A4541"/>
                  </a:solidFill>
                  <a:latin typeface="+mn-lt"/>
                  <a:ea typeface="+mn-ea"/>
                  <a:cs typeface="+mn-cs"/>
                </a:rPr>
                <a:t>● 松石绿：清丽自然，生机盎然</a:t>
              </a:r>
            </a:p>
            <a:p>
              <a:pPr algn="l">
                <a:lnSpc>
                  <a:spcPts val="1500"/>
                </a:lnSpc>
                <a:spcBef>
                  <a:spcPts val="600"/>
                </a:spcBef>
              </a:pPr>
              <a:r>
                <a:rPr lang="zh-CN" sz="1050" b="1" dirty="0">
                  <a:solidFill>
                    <a:srgbClr val="262220"/>
                  </a:solidFill>
                  <a:latin typeface="+mn-lt"/>
                  <a:ea typeface="+mn-ea"/>
                  <a:cs typeface="+mn-cs"/>
                </a:rPr>
                <a:t>图形转化启示：</a:t>
              </a:r>
            </a:p>
            <a:p>
              <a:pPr algn="l">
                <a:lnSpc>
                  <a:spcPts val="1500"/>
                </a:lnSpc>
                <a:spcBef>
                  <a:spcPts val="150"/>
                </a:spcBef>
              </a:pPr>
              <a:r>
                <a:rPr lang="zh-CN" sz="1050" dirty="0">
                  <a:solidFill>
                    <a:srgbClr val="4A4541"/>
                  </a:solidFill>
                  <a:latin typeface="+mn-lt"/>
                  <a:ea typeface="+mn-ea"/>
                  <a:cs typeface="+mn-cs"/>
                </a:rPr>
                <a:t>由微丝绣线混色提炼为限定专色平涂。</a:t>
              </a:r>
            </a:p>
          </p:txBody>
        </p:sp>
      </p:grpSp>
      <p:grpSp>
        <p:nvGrpSpPr>
          <p:cNvPr id="26" name="p04-bottom-box"/>
          <p:cNvGrpSpPr/>
          <p:nvPr/>
        </p:nvGrpSpPr>
        <p:grpSpPr>
          <a:xfrm>
            <a:off x="571500" y="5572125"/>
            <a:ext cx="11049000" cy="762000"/>
            <a:chOff x="571500" y="5572125"/>
            <a:chExt cx="11049000" cy="762000"/>
          </a:xfrm>
        </p:grpSpPr>
        <p:sp>
          <p:nvSpPr>
            <p:cNvPr id="22" name="Rectangle 22"/>
            <p:cNvSpPr/>
            <p:nvPr/>
          </p:nvSpPr>
          <p:spPr>
            <a:xfrm>
              <a:off x="571500" y="5572125"/>
              <a:ext cx="11049000" cy="762000"/>
            </a:xfrm>
            <a:prstGeom prst="roundRect">
              <a:avLst>
                <a:gd name="adj" fmla="val 10000"/>
              </a:avLst>
            </a:prstGeom>
            <a:solidFill>
              <a:srgbClr val="F3EEE6"/>
            </a:solidFill>
            <a:ln w="9525">
              <a:solidFill>
                <a:srgbClr val="D8CDBF"/>
              </a:solidFill>
            </a:ln>
          </p:spPr>
        </p:sp>
        <p:sp>
          <p:nvSpPr>
            <p:cNvPr id="23" name="TextBox 23"/>
            <p:cNvSpPr txBox="1"/>
            <p:nvPr/>
          </p:nvSpPr>
          <p:spPr>
            <a:xfrm>
              <a:off x="851154" y="5795010"/>
              <a:ext cx="819912" cy="234696"/>
            </a:xfrm>
            <a:prstGeom prst="rect">
              <a:avLst/>
            </a:prstGeom>
            <a:noFill/>
            <a:ln>
              <a:noFill/>
            </a:ln>
          </p:spPr>
          <p:txBody>
            <a:bodyPr wrap="none" lIns="0" tIns="0" rIns="0" bIns="0" anchor="t" anchorCtr="0">
              <a:spAutoFit/>
            </a:bodyPr>
            <a:lstStyle/>
            <a:p>
              <a:pPr algn="l"/>
              <a:r>
                <a:rPr lang="zh-CN" sz="1200" b="1" dirty="0">
                  <a:solidFill>
                    <a:srgbClr val="2B5F75"/>
                  </a:solidFill>
                  <a:latin typeface="+mn-lt"/>
                  <a:ea typeface="+mn-ea"/>
                  <a:cs typeface="+mn-cs"/>
                </a:rPr>
                <a:t>调研结论：</a:t>
              </a:r>
            </a:p>
          </p:txBody>
        </p:sp>
        <p:sp>
          <p:nvSpPr>
            <p:cNvPr id="24" name="TextBox 24"/>
            <p:cNvSpPr txBox="1"/>
            <p:nvPr/>
          </p:nvSpPr>
          <p:spPr>
            <a:xfrm>
              <a:off x="1708785" y="5803106"/>
              <a:ext cx="7700924" cy="220028"/>
            </a:xfrm>
            <a:prstGeom prst="rect">
              <a:avLst/>
            </a:prstGeom>
            <a:noFill/>
            <a:ln>
              <a:noFill/>
            </a:ln>
          </p:spPr>
          <p:txBody>
            <a:bodyPr wrap="none" lIns="0" tIns="0" rIns="0" bIns="0" anchor="t" anchorCtr="0">
              <a:spAutoFit/>
            </a:bodyPr>
            <a:lstStyle/>
            <a:p>
              <a:pPr algn="l"/>
              <a:r>
                <a:rPr lang="zh-CN" sz="1120" dirty="0">
                  <a:solidFill>
                    <a:srgbClr val="4A4541"/>
                  </a:solidFill>
                  <a:latin typeface="+mn-lt"/>
                  <a:ea typeface="+mn-ea"/>
                  <a:cs typeface="+mn-cs"/>
                </a:rPr>
                <a:t>传统绣品依靠手工针脚形成微观质感，转向平面印刷时必须摒弃繁冗碎线，在保留气韵的前提下重新梳理图形秩序。</a:t>
              </a:r>
            </a:p>
          </p:txBody>
        </p:sp>
        <p:sp>
          <p:nvSpPr>
            <p:cNvPr id="25" name="TextBox 25"/>
            <p:cNvSpPr txBox="1"/>
            <p:nvPr/>
          </p:nvSpPr>
          <p:spPr>
            <a:xfrm>
              <a:off x="1709547" y="6066949"/>
              <a:ext cx="6161875" cy="190690"/>
            </a:xfrm>
            <a:prstGeom prst="rect">
              <a:avLst/>
            </a:prstGeom>
            <a:noFill/>
            <a:ln>
              <a:noFill/>
            </a:ln>
          </p:spPr>
          <p:txBody>
            <a:bodyPr wrap="none" lIns="0" tIns="0" rIns="0" bIns="0" anchor="t" anchorCtr="0">
              <a:spAutoFit/>
            </a:bodyPr>
            <a:lstStyle/>
            <a:p>
              <a:pPr algn="l"/>
              <a:r>
                <a:rPr lang="en-US" sz="980" dirty="0">
                  <a:solidFill>
                    <a:srgbClr val="7D766F"/>
                  </a:solidFill>
                  <a:latin typeface="+mn-lt"/>
                  <a:ea typeface="+mn-ea"/>
                  <a:cs typeface="+mn-cs"/>
                </a:rPr>
                <a:t>Transforming tactile embroidery stitches into clear vector graphics with clean line hierarchies</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5-header"/>
          <p:cNvGrpSpPr/>
          <p:nvPr/>
        </p:nvGrpSpPr>
        <p:grpSpPr>
          <a:xfrm>
            <a:off x="560832" y="601028"/>
            <a:ext cx="11059668" cy="649795"/>
            <a:chOff x="560832" y="601028"/>
            <a:chExt cx="11059668" cy="649795"/>
          </a:xfrm>
        </p:grpSpPr>
        <p:sp>
          <p:nvSpPr>
            <p:cNvPr id="3" name="TextBox 3"/>
            <p:cNvSpPr txBox="1"/>
            <p:nvPr/>
          </p:nvSpPr>
          <p:spPr>
            <a:xfrm>
              <a:off x="566166" y="601028"/>
              <a:ext cx="1711593"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03 设计灵感与转化思路</a:t>
              </a:r>
            </a:p>
          </p:txBody>
        </p:sp>
        <p:sp>
          <p:nvSpPr>
            <p:cNvPr id="4" name="TextBox 4"/>
            <p:cNvSpPr txBox="1"/>
            <p:nvPr/>
          </p:nvSpPr>
          <p:spPr>
            <a:xfrm>
              <a:off x="560832" y="840105"/>
              <a:ext cx="5392674"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从传统刺绣母题到现代平面语言的四步演进</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13" name="p05-step-1"/>
          <p:cNvGrpSpPr/>
          <p:nvPr/>
        </p:nvGrpSpPr>
        <p:grpSpPr>
          <a:xfrm>
            <a:off x="571500" y="1476375"/>
            <a:ext cx="2524125" cy="4667250"/>
            <a:chOff x="571500" y="1476375"/>
            <a:chExt cx="2524125" cy="4667250"/>
          </a:xfrm>
        </p:grpSpPr>
        <p:sp>
          <p:nvSpPr>
            <p:cNvPr id="7" name="Rectangle 7"/>
            <p:cNvSpPr/>
            <p:nvPr/>
          </p:nvSpPr>
          <p:spPr>
            <a:xfrm>
              <a:off x="571500" y="1476375"/>
              <a:ext cx="2524125" cy="4667250"/>
            </a:xfrm>
            <a:prstGeom prst="roundRect">
              <a:avLst>
                <a:gd name="adj" fmla="val 3019"/>
              </a:avLst>
            </a:prstGeom>
            <a:solidFill>
              <a:srgbClr val="FFFFFF"/>
            </a:solidFill>
            <a:ln w="9525">
              <a:solidFill>
                <a:srgbClr val="E8E2D8"/>
              </a:solidFill>
            </a:ln>
          </p:spPr>
        </p:sp>
        <p:sp>
          <p:nvSpPr>
            <p:cNvPr id="8" name="Rectangle 8"/>
            <p:cNvSpPr/>
            <p:nvPr/>
          </p:nvSpPr>
          <p:spPr>
            <a:xfrm>
              <a:off x="571500" y="1476375"/>
              <a:ext cx="2524125" cy="571500"/>
            </a:xfrm>
            <a:prstGeom prst="roundRect">
              <a:avLst>
                <a:gd name="adj" fmla="val 13333"/>
              </a:avLst>
            </a:prstGeom>
            <a:solidFill>
              <a:srgbClr val="F3EEE6"/>
            </a:solidFill>
            <a:ln>
              <a:noFill/>
            </a:ln>
          </p:spPr>
        </p:sp>
        <p:sp>
          <p:nvSpPr>
            <p:cNvPr id="9" name="Ellipse 9"/>
            <p:cNvSpPr/>
            <p:nvPr/>
          </p:nvSpPr>
          <p:spPr>
            <a:xfrm>
              <a:off x="762000" y="1619250"/>
              <a:ext cx="285750" cy="285750"/>
            </a:xfrm>
            <a:prstGeom prst="ellipse">
              <a:avLst/>
            </a:prstGeom>
            <a:solidFill>
              <a:srgbClr val="B83A2E"/>
            </a:solidFill>
            <a:ln>
              <a:noFill/>
            </a:ln>
          </p:spPr>
        </p:sp>
        <p:sp>
          <p:nvSpPr>
            <p:cNvPr id="10" name="TextBox 10"/>
            <p:cNvSpPr txBox="1"/>
            <p:nvPr/>
          </p:nvSpPr>
          <p:spPr>
            <a:xfrm>
              <a:off x="855624" y="16978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1" name="TextBox 11"/>
            <p:cNvSpPr txBox="1"/>
            <p:nvPr/>
          </p:nvSpPr>
          <p:spPr>
            <a:xfrm>
              <a:off x="1184148" y="1681639"/>
              <a:ext cx="1046836" cy="249364"/>
            </a:xfrm>
            <a:prstGeom prst="rect">
              <a:avLst/>
            </a:prstGeom>
            <a:noFill/>
            <a:ln>
              <a:noFill/>
            </a:ln>
          </p:spPr>
          <p:txBody>
            <a:bodyPr wrap="none" lIns="0" tIns="0" rIns="0" bIns="0" anchor="t" anchorCtr="0">
              <a:spAutoFit/>
            </a:bodyPr>
            <a:lstStyle/>
            <a:p>
              <a:pPr algn="l"/>
              <a:r>
                <a:rPr lang="zh-CN" sz="1280" b="1" dirty="0">
                  <a:solidFill>
                    <a:srgbClr val="262220"/>
                  </a:solidFill>
                  <a:latin typeface="+mn-lt"/>
                  <a:ea typeface="+mn-ea"/>
                  <a:cs typeface="+mn-cs"/>
                </a:rPr>
                <a:t>筛选经典母题</a:t>
              </a:r>
            </a:p>
          </p:txBody>
        </p:sp>
        <p:sp>
          <p:nvSpPr>
            <p:cNvPr id="12" name="TextBox 12"/>
            <p:cNvSpPr txBox="1"/>
            <p:nvPr/>
          </p:nvSpPr>
          <p:spPr>
            <a:xfrm>
              <a:off x="756666" y="2220278"/>
              <a:ext cx="1610868" cy="1938909"/>
            </a:xfrm>
            <a:prstGeom prst="rect">
              <a:avLst/>
            </a:prstGeom>
            <a:noFill/>
            <a:ln>
              <a:noFill/>
            </a:ln>
          </p:spPr>
          <p:txBody>
            <a:bodyPr wrap="none" lIns="0" tIns="0" rIns="0" bIns="0" anchor="t" anchorCtr="0">
              <a:spAutoFit/>
            </a:bodyPr>
            <a:lstStyle/>
            <a:p>
              <a:pPr algn="l" marL="119015" indent="-119015">
                <a:lnSpc>
                  <a:spcPts val="1500"/>
                </a:lnSpc>
                <a:buClr>
                  <a:srgbClr val="B83A2E"/>
                </a:buClr>
                <a:buSzTx/>
                <a:buFontTx/>
                <a:buChar char="●"/>
              </a:pPr>
              <a:r>
                <a:rPr lang="zh-CN" sz="1050" b="1" dirty="0">
                  <a:solidFill>
                    <a:srgbClr val="B83A2E"/>
                  </a:solidFill>
                  <a:latin typeface="+mn-lt"/>
                  <a:ea typeface="+mn-ea"/>
                  <a:cs typeface="+mn-cs"/>
                </a:rPr>
                <a:t>文化根脉寻访：</a:t>
              </a:r>
            </a:p>
            <a:p>
              <a:pPr algn="l">
                <a:lnSpc>
                  <a:spcPts val="1500"/>
                </a:lnSpc>
                <a:spcBef>
                  <a:spcPts val="150"/>
                </a:spcBef>
              </a:pPr>
              <a:r>
                <a:rPr lang="zh-CN" sz="1050" dirty="0">
                  <a:solidFill>
                    <a:srgbClr val="4A4541"/>
                  </a:solidFill>
                  <a:latin typeface="+mn-lt"/>
                  <a:ea typeface="+mn-ea"/>
                  <a:cs typeface="+mn-cs"/>
                </a:rPr>
                <a:t>深入查阅北宋汴绣、</a:t>
              </a:r>
              <a:br/>
              <a:r>
                <a:rPr lang="zh-CN" sz="1050" dirty="0">
                  <a:solidFill>
                    <a:srgbClr val="4A4541"/>
                  </a:solidFill>
                  <a:latin typeface="+mn-lt"/>
                  <a:ea typeface="+mn-ea"/>
                  <a:cs typeface="+mn-cs"/>
                </a:rPr>
                <a:t>服饰镶边与古画图式。</a:t>
              </a:r>
            </a:p>
            <a:p>
              <a:pPr algn="l" marL="119015" indent="-119015">
                <a:lnSpc>
                  <a:spcPts val="1500"/>
                </a:lnSpc>
                <a:spcBef>
                  <a:spcPts val="600"/>
                </a:spcBef>
                <a:buClr>
                  <a:srgbClr val="B83A2E"/>
                </a:buClr>
                <a:buSzTx/>
                <a:buFontTx/>
                <a:buChar char="●"/>
              </a:pPr>
              <a:r>
                <a:rPr lang="zh-CN" sz="1050" b="1" dirty="0">
                  <a:solidFill>
                    <a:srgbClr val="B83A2E"/>
                  </a:solidFill>
                  <a:latin typeface="+mn-lt"/>
                  <a:ea typeface="+mn-ea"/>
                  <a:cs typeface="+mn-cs"/>
                </a:rPr>
                <a:t>代表性优先：</a:t>
              </a:r>
            </a:p>
            <a:p>
              <a:pPr algn="l">
                <a:lnSpc>
                  <a:spcPts val="1500"/>
                </a:lnSpc>
                <a:spcBef>
                  <a:spcPts val="150"/>
                </a:spcBef>
              </a:pPr>
              <a:r>
                <a:rPr lang="zh-CN" sz="1050" dirty="0">
                  <a:solidFill>
                    <a:srgbClr val="4A4541"/>
                  </a:solidFill>
                  <a:latin typeface="+mn-lt"/>
                  <a:ea typeface="+mn-ea"/>
                  <a:cs typeface="+mn-cs"/>
                </a:rPr>
                <a:t>精选双鱼、海棠、</a:t>
              </a:r>
              <a:br/>
              <a:r>
                <a:rPr lang="zh-CN" sz="1050" dirty="0">
                  <a:solidFill>
                    <a:srgbClr val="4A4541"/>
                  </a:solidFill>
                  <a:latin typeface="+mn-lt"/>
                  <a:ea typeface="+mn-ea"/>
                  <a:cs typeface="+mn-cs"/>
                </a:rPr>
                <a:t>宝相花等高辨识度纹样。</a:t>
              </a:r>
            </a:p>
            <a:p>
              <a:pPr algn="l" marL="119015" indent="-119015">
                <a:lnSpc>
                  <a:spcPts val="1500"/>
                </a:lnSpc>
                <a:spcBef>
                  <a:spcPts val="600"/>
                </a:spcBef>
                <a:buClr>
                  <a:srgbClr val="B83A2E"/>
                </a:buClr>
                <a:buSzTx/>
                <a:buFontTx/>
                <a:buChar char="●"/>
              </a:pPr>
              <a:r>
                <a:rPr lang="zh-CN" sz="1050" b="1" dirty="0">
                  <a:solidFill>
                    <a:srgbClr val="B83A2E"/>
                  </a:solidFill>
                  <a:latin typeface="+mn-lt"/>
                  <a:ea typeface="+mn-ea"/>
                  <a:cs typeface="+mn-cs"/>
                </a:rPr>
                <a:t>剔除冗余杂线：</a:t>
              </a:r>
            </a:p>
            <a:p>
              <a:pPr algn="l">
                <a:lnSpc>
                  <a:spcPts val="1500"/>
                </a:lnSpc>
                <a:spcBef>
                  <a:spcPts val="150"/>
                </a:spcBef>
              </a:pPr>
              <a:r>
                <a:rPr lang="zh-CN" sz="1050" dirty="0">
                  <a:solidFill>
                    <a:srgbClr val="4A4541"/>
                  </a:solidFill>
                  <a:latin typeface="+mn-lt"/>
                  <a:ea typeface="+mn-ea"/>
                  <a:cs typeface="+mn-cs"/>
                </a:rPr>
                <a:t>舍弃依赖单手针法</a:t>
              </a:r>
              <a:br/>
              <a:r>
                <a:rPr lang="zh-CN" sz="1050" dirty="0">
                  <a:solidFill>
                    <a:srgbClr val="4A4541"/>
                  </a:solidFill>
                  <a:latin typeface="+mn-lt"/>
                  <a:ea typeface="+mn-ea"/>
                  <a:cs typeface="+mn-cs"/>
                </a:rPr>
                <a:t>小众题材，聚焦母题美感。</a:t>
              </a:r>
            </a:p>
          </p:txBody>
        </p:sp>
      </p:grpSp>
      <p:grpSp>
        <p:nvGrpSpPr>
          <p:cNvPr id="20" name="p05-step-2"/>
          <p:cNvGrpSpPr/>
          <p:nvPr/>
        </p:nvGrpSpPr>
        <p:grpSpPr>
          <a:xfrm>
            <a:off x="3381375" y="1476375"/>
            <a:ext cx="2524125" cy="4667250"/>
            <a:chOff x="3381375" y="1476375"/>
            <a:chExt cx="2524125" cy="4667250"/>
          </a:xfrm>
        </p:grpSpPr>
        <p:sp>
          <p:nvSpPr>
            <p:cNvPr id="14" name="Rectangle 14"/>
            <p:cNvSpPr/>
            <p:nvPr/>
          </p:nvSpPr>
          <p:spPr>
            <a:xfrm>
              <a:off x="3381375" y="1476375"/>
              <a:ext cx="2524125" cy="4667250"/>
            </a:xfrm>
            <a:prstGeom prst="roundRect">
              <a:avLst>
                <a:gd name="adj" fmla="val 3019"/>
              </a:avLst>
            </a:prstGeom>
            <a:solidFill>
              <a:srgbClr val="FFFFFF"/>
            </a:solidFill>
            <a:ln w="9525">
              <a:solidFill>
                <a:srgbClr val="E8E2D8"/>
              </a:solidFill>
            </a:ln>
          </p:spPr>
        </p:sp>
        <p:sp>
          <p:nvSpPr>
            <p:cNvPr id="15" name="Rectangle 15"/>
            <p:cNvSpPr/>
            <p:nvPr/>
          </p:nvSpPr>
          <p:spPr>
            <a:xfrm>
              <a:off x="3381375" y="1476375"/>
              <a:ext cx="2524125" cy="571500"/>
            </a:xfrm>
            <a:prstGeom prst="roundRect">
              <a:avLst>
                <a:gd name="adj" fmla="val 13333"/>
              </a:avLst>
            </a:prstGeom>
            <a:solidFill>
              <a:srgbClr val="F3EEE6"/>
            </a:solidFill>
            <a:ln>
              <a:noFill/>
            </a:ln>
          </p:spPr>
        </p:sp>
        <p:sp>
          <p:nvSpPr>
            <p:cNvPr id="16" name="Ellipse 16"/>
            <p:cNvSpPr/>
            <p:nvPr/>
          </p:nvSpPr>
          <p:spPr>
            <a:xfrm>
              <a:off x="3571875" y="1619250"/>
              <a:ext cx="285750" cy="285750"/>
            </a:xfrm>
            <a:prstGeom prst="ellipse">
              <a:avLst/>
            </a:prstGeom>
            <a:solidFill>
              <a:srgbClr val="2B5F75"/>
            </a:solidFill>
            <a:ln>
              <a:noFill/>
            </a:ln>
          </p:spPr>
        </p:sp>
        <p:sp>
          <p:nvSpPr>
            <p:cNvPr id="17" name="TextBox 17"/>
            <p:cNvSpPr txBox="1"/>
            <p:nvPr/>
          </p:nvSpPr>
          <p:spPr>
            <a:xfrm>
              <a:off x="3665499" y="16978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8" name="TextBox 18"/>
            <p:cNvSpPr txBox="1"/>
            <p:nvPr/>
          </p:nvSpPr>
          <p:spPr>
            <a:xfrm>
              <a:off x="3994023" y="1681639"/>
              <a:ext cx="1046836" cy="249364"/>
            </a:xfrm>
            <a:prstGeom prst="rect">
              <a:avLst/>
            </a:prstGeom>
            <a:noFill/>
            <a:ln>
              <a:noFill/>
            </a:ln>
          </p:spPr>
          <p:txBody>
            <a:bodyPr wrap="none" lIns="0" tIns="0" rIns="0" bIns="0" anchor="t" anchorCtr="0">
              <a:spAutoFit/>
            </a:bodyPr>
            <a:lstStyle/>
            <a:p>
              <a:pPr algn="l"/>
              <a:r>
                <a:rPr lang="zh-CN" sz="1280" b="1" dirty="0">
                  <a:solidFill>
                    <a:srgbClr val="262220"/>
                  </a:solidFill>
                  <a:latin typeface="+mn-lt"/>
                  <a:ea typeface="+mn-ea"/>
                  <a:cs typeface="+mn-cs"/>
                </a:rPr>
                <a:t>概括物象形态</a:t>
              </a:r>
            </a:p>
          </p:txBody>
        </p:sp>
        <p:sp>
          <p:nvSpPr>
            <p:cNvPr id="19" name="TextBox 19"/>
            <p:cNvSpPr txBox="1"/>
            <p:nvPr/>
          </p:nvSpPr>
          <p:spPr>
            <a:xfrm>
              <a:off x="3566541" y="2220278"/>
              <a:ext cx="1477518" cy="1938909"/>
            </a:xfrm>
            <a:prstGeom prst="rect">
              <a:avLst/>
            </a:prstGeom>
            <a:noFill/>
            <a:ln>
              <a:noFill/>
            </a:ln>
          </p:spPr>
          <p:txBody>
            <a:bodyPr wrap="none" lIns="0" tIns="0" rIns="0" bIns="0" anchor="t" anchorCtr="0">
              <a:spAutoFit/>
            </a:bodyPr>
            <a:lstStyle/>
            <a:p>
              <a:pPr algn="l" marL="119015" indent="-119015">
                <a:lnSpc>
                  <a:spcPts val="1500"/>
                </a:lnSpc>
                <a:buClr>
                  <a:srgbClr val="2B5F75"/>
                </a:buClr>
                <a:buSzTx/>
                <a:buFontTx/>
                <a:buChar char="●"/>
              </a:pPr>
              <a:r>
                <a:rPr lang="zh-CN" sz="1050" b="1" dirty="0">
                  <a:solidFill>
                    <a:srgbClr val="2B5F75"/>
                  </a:solidFill>
                  <a:latin typeface="+mn-lt"/>
                  <a:ea typeface="+mn-ea"/>
                  <a:cs typeface="+mn-cs"/>
                </a:rPr>
                <a:t>几何轮廓提炼：</a:t>
              </a:r>
            </a:p>
            <a:p>
              <a:pPr algn="l">
                <a:lnSpc>
                  <a:spcPts val="1500"/>
                </a:lnSpc>
                <a:spcBef>
                  <a:spcPts val="150"/>
                </a:spcBef>
              </a:pPr>
              <a:r>
                <a:rPr lang="zh-CN" sz="1050" dirty="0">
                  <a:solidFill>
                    <a:srgbClr val="4A4541"/>
                  </a:solidFill>
                  <a:latin typeface="+mn-lt"/>
                  <a:ea typeface="+mn-ea"/>
                  <a:cs typeface="+mn-cs"/>
                </a:rPr>
                <a:t>将繁杂丝缕简化为</a:t>
              </a:r>
              <a:br/>
              <a:r>
                <a:rPr lang="zh-CN" sz="1050" dirty="0">
                  <a:solidFill>
                    <a:srgbClr val="4A4541"/>
                  </a:solidFill>
                  <a:latin typeface="+mn-lt"/>
                  <a:ea typeface="+mn-ea"/>
                  <a:cs typeface="+mn-cs"/>
                </a:rPr>
                <a:t>结构明确的外轮廓线。</a:t>
              </a:r>
            </a:p>
            <a:p>
              <a:pPr algn="l" marL="119015" indent="-119015">
                <a:lnSpc>
                  <a:spcPts val="1500"/>
                </a:lnSpc>
                <a:spcBef>
                  <a:spcPts val="600"/>
                </a:spcBef>
                <a:buClr>
                  <a:srgbClr val="2B5F75"/>
                </a:buClr>
                <a:buSzTx/>
                <a:buFontTx/>
                <a:buChar char="●"/>
              </a:pPr>
              <a:r>
                <a:rPr lang="zh-CN" sz="1050" b="1" dirty="0">
                  <a:solidFill>
                    <a:srgbClr val="2B5F75"/>
                  </a:solidFill>
                  <a:latin typeface="+mn-lt"/>
                  <a:ea typeface="+mn-ea"/>
                  <a:cs typeface="+mn-cs"/>
                </a:rPr>
                <a:t>虚实主次重塑：</a:t>
              </a:r>
            </a:p>
            <a:p>
              <a:pPr algn="l">
                <a:lnSpc>
                  <a:spcPts val="1500"/>
                </a:lnSpc>
                <a:spcBef>
                  <a:spcPts val="150"/>
                </a:spcBef>
              </a:pPr>
              <a:r>
                <a:rPr lang="zh-CN" sz="1050" dirty="0">
                  <a:solidFill>
                    <a:srgbClr val="4A4541"/>
                  </a:solidFill>
                  <a:latin typeface="+mn-lt"/>
                  <a:ea typeface="+mn-ea"/>
                  <a:cs typeface="+mn-cs"/>
                </a:rPr>
                <a:t>强化核心主体视觉比重，</a:t>
              </a:r>
              <a:br/>
              <a:r>
                <a:rPr lang="zh-CN" sz="1050" dirty="0">
                  <a:solidFill>
                    <a:srgbClr val="4A4541"/>
                  </a:solidFill>
                  <a:latin typeface="+mn-lt"/>
                  <a:ea typeface="+mn-ea"/>
                  <a:cs typeface="+mn-cs"/>
                </a:rPr>
                <a:t>辅属云纹卷草疏密呼应。</a:t>
              </a:r>
            </a:p>
            <a:p>
              <a:pPr algn="l" marL="119015" indent="-119015">
                <a:lnSpc>
                  <a:spcPts val="1500"/>
                </a:lnSpc>
                <a:spcBef>
                  <a:spcPts val="600"/>
                </a:spcBef>
                <a:buClr>
                  <a:srgbClr val="2B5F75"/>
                </a:buClr>
                <a:buSzTx/>
                <a:buFontTx/>
                <a:buChar char="●"/>
              </a:pPr>
              <a:r>
                <a:rPr lang="zh-CN" sz="1050" b="1" dirty="0">
                  <a:solidFill>
                    <a:srgbClr val="2B5F75"/>
                  </a:solidFill>
                  <a:latin typeface="+mn-lt"/>
                  <a:ea typeface="+mn-ea"/>
                  <a:cs typeface="+mn-cs"/>
                </a:rPr>
                <a:t>平面图形化：</a:t>
              </a:r>
            </a:p>
            <a:p>
              <a:pPr algn="l">
                <a:lnSpc>
                  <a:spcPts val="1500"/>
                </a:lnSpc>
                <a:spcBef>
                  <a:spcPts val="150"/>
                </a:spcBef>
              </a:pPr>
              <a:r>
                <a:rPr lang="zh-CN" sz="1050" dirty="0">
                  <a:solidFill>
                    <a:srgbClr val="4A4541"/>
                  </a:solidFill>
                  <a:latin typeface="+mn-lt"/>
                  <a:ea typeface="+mn-ea"/>
                  <a:cs typeface="+mn-cs"/>
                </a:rPr>
                <a:t>明确闭合面与线，</a:t>
              </a:r>
              <a:br/>
              <a:r>
                <a:rPr lang="zh-CN" sz="1050" dirty="0">
                  <a:solidFill>
                    <a:srgbClr val="4A4541"/>
                  </a:solidFill>
                  <a:latin typeface="+mn-lt"/>
                  <a:ea typeface="+mn-ea"/>
                  <a:cs typeface="+mn-cs"/>
                </a:rPr>
                <a:t>奠定矢量数字化基础。</a:t>
              </a:r>
            </a:p>
          </p:txBody>
        </p:sp>
      </p:grpSp>
      <p:grpSp>
        <p:nvGrpSpPr>
          <p:cNvPr id="27" name="p05-step-3"/>
          <p:cNvGrpSpPr/>
          <p:nvPr/>
        </p:nvGrpSpPr>
        <p:grpSpPr>
          <a:xfrm>
            <a:off x="6191250" y="1476375"/>
            <a:ext cx="2524125" cy="4667250"/>
            <a:chOff x="6191250" y="1476375"/>
            <a:chExt cx="2524125" cy="4667250"/>
          </a:xfrm>
        </p:grpSpPr>
        <p:sp>
          <p:nvSpPr>
            <p:cNvPr id="21" name="Rectangle 21"/>
            <p:cNvSpPr/>
            <p:nvPr/>
          </p:nvSpPr>
          <p:spPr>
            <a:xfrm>
              <a:off x="6191250" y="1476375"/>
              <a:ext cx="2524125" cy="4667250"/>
            </a:xfrm>
            <a:prstGeom prst="roundRect">
              <a:avLst>
                <a:gd name="adj" fmla="val 3019"/>
              </a:avLst>
            </a:prstGeom>
            <a:solidFill>
              <a:srgbClr val="FFFFFF"/>
            </a:solidFill>
            <a:ln w="9525">
              <a:solidFill>
                <a:srgbClr val="E8E2D8"/>
              </a:solidFill>
            </a:ln>
          </p:spPr>
        </p:sp>
        <p:sp>
          <p:nvSpPr>
            <p:cNvPr id="22" name="Rectangle 22"/>
            <p:cNvSpPr/>
            <p:nvPr/>
          </p:nvSpPr>
          <p:spPr>
            <a:xfrm>
              <a:off x="6191250" y="1476375"/>
              <a:ext cx="2524125" cy="571500"/>
            </a:xfrm>
            <a:prstGeom prst="roundRect">
              <a:avLst>
                <a:gd name="adj" fmla="val 13333"/>
              </a:avLst>
            </a:prstGeom>
            <a:solidFill>
              <a:srgbClr val="F3EEE6"/>
            </a:solidFill>
            <a:ln>
              <a:noFill/>
            </a:ln>
          </p:spPr>
        </p:sp>
        <p:sp>
          <p:nvSpPr>
            <p:cNvPr id="23" name="Ellipse 23"/>
            <p:cNvSpPr/>
            <p:nvPr/>
          </p:nvSpPr>
          <p:spPr>
            <a:xfrm>
              <a:off x="6381750" y="1619250"/>
              <a:ext cx="285750" cy="285750"/>
            </a:xfrm>
            <a:prstGeom prst="ellipse">
              <a:avLst/>
            </a:prstGeom>
            <a:solidFill>
              <a:srgbClr val="C4892B"/>
            </a:solidFill>
            <a:ln>
              <a:noFill/>
            </a:ln>
          </p:spPr>
        </p:sp>
        <p:sp>
          <p:nvSpPr>
            <p:cNvPr id="24" name="TextBox 24"/>
            <p:cNvSpPr txBox="1"/>
            <p:nvPr/>
          </p:nvSpPr>
          <p:spPr>
            <a:xfrm>
              <a:off x="6475374" y="16978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25" name="TextBox 25"/>
            <p:cNvSpPr txBox="1"/>
            <p:nvPr/>
          </p:nvSpPr>
          <p:spPr>
            <a:xfrm>
              <a:off x="6803898" y="1681639"/>
              <a:ext cx="1046836" cy="249364"/>
            </a:xfrm>
            <a:prstGeom prst="rect">
              <a:avLst/>
            </a:prstGeom>
            <a:noFill/>
            <a:ln>
              <a:noFill/>
            </a:ln>
          </p:spPr>
          <p:txBody>
            <a:bodyPr wrap="none" lIns="0" tIns="0" rIns="0" bIns="0" anchor="t" anchorCtr="0">
              <a:spAutoFit/>
            </a:bodyPr>
            <a:lstStyle/>
            <a:p>
              <a:pPr algn="l"/>
              <a:r>
                <a:rPr lang="zh-CN" sz="1280" b="1" dirty="0">
                  <a:solidFill>
                    <a:srgbClr val="262220"/>
                  </a:solidFill>
                  <a:latin typeface="+mn-lt"/>
                  <a:ea typeface="+mn-ea"/>
                  <a:cs typeface="+mn-cs"/>
                </a:rPr>
                <a:t>强化线条秩序</a:t>
              </a:r>
            </a:p>
          </p:txBody>
        </p:sp>
        <p:sp>
          <p:nvSpPr>
            <p:cNvPr id="26" name="TextBox 26"/>
            <p:cNvSpPr txBox="1"/>
            <p:nvPr/>
          </p:nvSpPr>
          <p:spPr>
            <a:xfrm>
              <a:off x="6376416" y="2220278"/>
              <a:ext cx="1344168" cy="1938909"/>
            </a:xfrm>
            <a:prstGeom prst="rect">
              <a:avLst/>
            </a:prstGeom>
            <a:noFill/>
            <a:ln>
              <a:noFill/>
            </a:ln>
          </p:spPr>
          <p:txBody>
            <a:bodyPr wrap="none" lIns="0" tIns="0" rIns="0" bIns="0" anchor="t" anchorCtr="0">
              <a:spAutoFit/>
            </a:bodyPr>
            <a:lstStyle/>
            <a:p>
              <a:pPr algn="l" marL="119015" indent="-119015">
                <a:lnSpc>
                  <a:spcPts val="1500"/>
                </a:lnSpc>
                <a:buClr>
                  <a:srgbClr val="C4892B"/>
                </a:buClr>
                <a:buSzTx/>
                <a:buFontTx/>
                <a:buChar char="●"/>
              </a:pPr>
              <a:r>
                <a:rPr lang="zh-CN" sz="1050" b="1" dirty="0">
                  <a:solidFill>
                    <a:srgbClr val="C4892B"/>
                  </a:solidFill>
                  <a:latin typeface="+mn-lt"/>
                  <a:ea typeface="+mn-ea"/>
                  <a:cs typeface="+mn-cs"/>
                </a:rPr>
                <a:t>流畅矢量路径：</a:t>
              </a:r>
            </a:p>
            <a:p>
              <a:pPr algn="l">
                <a:lnSpc>
                  <a:spcPts val="1500"/>
                </a:lnSpc>
                <a:spcBef>
                  <a:spcPts val="150"/>
                </a:spcBef>
              </a:pPr>
              <a:r>
                <a:rPr lang="zh-CN" sz="1050" dirty="0">
                  <a:solidFill>
                    <a:srgbClr val="4A4541"/>
                  </a:solidFill>
                  <a:latin typeface="+mn-lt"/>
                  <a:ea typeface="+mn-ea"/>
                  <a:cs typeface="+mn-cs"/>
                </a:rPr>
                <a:t>优化曲线曲率，</a:t>
              </a:r>
              <a:br/>
              <a:r>
                <a:rPr lang="zh-CN" sz="1050" dirty="0">
                  <a:solidFill>
                    <a:srgbClr val="4A4541"/>
                  </a:solidFill>
                  <a:latin typeface="+mn-lt"/>
                  <a:ea typeface="+mn-ea"/>
                  <a:cs typeface="+mn-cs"/>
                </a:rPr>
                <a:t>消除转折生硬与碎角。</a:t>
              </a:r>
            </a:p>
            <a:p>
              <a:pPr algn="l" marL="119015" indent="-119015">
                <a:lnSpc>
                  <a:spcPts val="1500"/>
                </a:lnSpc>
                <a:spcBef>
                  <a:spcPts val="600"/>
                </a:spcBef>
                <a:buClr>
                  <a:srgbClr val="C4892B"/>
                </a:buClr>
                <a:buSzTx/>
                <a:buFontTx/>
                <a:buChar char="●"/>
              </a:pPr>
              <a:r>
                <a:rPr lang="zh-CN" sz="1050" b="1" dirty="0">
                  <a:solidFill>
                    <a:srgbClr val="C4892B"/>
                  </a:solidFill>
                  <a:latin typeface="+mn-lt"/>
                  <a:ea typeface="+mn-ea"/>
                  <a:cs typeface="+mn-cs"/>
                </a:rPr>
                <a:t>严格对称韵律：</a:t>
              </a:r>
            </a:p>
            <a:p>
              <a:pPr algn="l">
                <a:lnSpc>
                  <a:spcPts val="1500"/>
                </a:lnSpc>
                <a:spcBef>
                  <a:spcPts val="150"/>
                </a:spcBef>
              </a:pPr>
              <a:r>
                <a:rPr lang="zh-CN" sz="1050" dirty="0">
                  <a:solidFill>
                    <a:srgbClr val="4A4541"/>
                  </a:solidFill>
                  <a:latin typeface="+mn-lt"/>
                  <a:ea typeface="+mn-ea"/>
                  <a:cs typeface="+mn-cs"/>
                </a:rPr>
                <a:t>建立中轴或旋转骨架，</a:t>
              </a:r>
              <a:br/>
              <a:r>
                <a:rPr lang="zh-CN" sz="1050" dirty="0">
                  <a:solidFill>
                    <a:srgbClr val="4A4541"/>
                  </a:solidFill>
                  <a:latin typeface="+mn-lt"/>
                  <a:ea typeface="+mn-ea"/>
                  <a:cs typeface="+mn-cs"/>
                </a:rPr>
                <a:t>大幅增强图形严谨度。</a:t>
              </a:r>
            </a:p>
            <a:p>
              <a:pPr algn="l" marL="119015" indent="-119015">
                <a:lnSpc>
                  <a:spcPts val="1500"/>
                </a:lnSpc>
                <a:spcBef>
                  <a:spcPts val="600"/>
                </a:spcBef>
                <a:buClr>
                  <a:srgbClr val="C4892B"/>
                </a:buClr>
                <a:buSzTx/>
                <a:buFontTx/>
                <a:buChar char="●"/>
              </a:pPr>
              <a:r>
                <a:rPr lang="zh-CN" sz="1050" b="1" dirty="0">
                  <a:solidFill>
                    <a:srgbClr val="C4892B"/>
                  </a:solidFill>
                  <a:latin typeface="+mn-lt"/>
                  <a:ea typeface="+mn-ea"/>
                  <a:cs typeface="+mn-cs"/>
                </a:rPr>
                <a:t>印刷线宽规范：</a:t>
              </a:r>
            </a:p>
            <a:p>
              <a:pPr algn="l">
                <a:lnSpc>
                  <a:spcPts val="1500"/>
                </a:lnSpc>
                <a:spcBef>
                  <a:spcPts val="150"/>
                </a:spcBef>
              </a:pPr>
              <a:r>
                <a:rPr lang="zh-CN" sz="1050" dirty="0">
                  <a:solidFill>
                    <a:srgbClr val="4A4541"/>
                  </a:solidFill>
                  <a:latin typeface="+mn-lt"/>
                  <a:ea typeface="+mn-ea"/>
                  <a:cs typeface="+mn-cs"/>
                </a:rPr>
                <a:t>线条粗细适度，</a:t>
              </a:r>
              <a:br/>
              <a:r>
                <a:rPr lang="zh-CN" sz="1050" dirty="0">
                  <a:solidFill>
                    <a:srgbClr val="4A4541"/>
                  </a:solidFill>
                  <a:latin typeface="+mn-lt"/>
                  <a:ea typeface="+mn-ea"/>
                  <a:cs typeface="+mn-cs"/>
                </a:rPr>
                <a:t>确保印刷制版不断线。</a:t>
              </a:r>
            </a:p>
          </p:txBody>
        </p:sp>
      </p:grpSp>
      <p:grpSp>
        <p:nvGrpSpPr>
          <p:cNvPr id="34" name="p05-step-4"/>
          <p:cNvGrpSpPr/>
          <p:nvPr/>
        </p:nvGrpSpPr>
        <p:grpSpPr>
          <a:xfrm>
            <a:off x="9001125" y="1476375"/>
            <a:ext cx="2619375" cy="4667250"/>
            <a:chOff x="9001125" y="1476375"/>
            <a:chExt cx="2619375" cy="4667250"/>
          </a:xfrm>
        </p:grpSpPr>
        <p:sp>
          <p:nvSpPr>
            <p:cNvPr id="28" name="Rectangle 28"/>
            <p:cNvSpPr/>
            <p:nvPr/>
          </p:nvSpPr>
          <p:spPr>
            <a:xfrm>
              <a:off x="9001125" y="1476375"/>
              <a:ext cx="2619375" cy="4667250"/>
            </a:xfrm>
            <a:prstGeom prst="roundRect">
              <a:avLst>
                <a:gd name="adj" fmla="val 2909"/>
              </a:avLst>
            </a:prstGeom>
            <a:solidFill>
              <a:srgbClr val="FFFFFF"/>
            </a:solidFill>
            <a:ln w="9525">
              <a:solidFill>
                <a:srgbClr val="E8E2D8"/>
              </a:solidFill>
            </a:ln>
          </p:spPr>
        </p:sp>
        <p:sp>
          <p:nvSpPr>
            <p:cNvPr id="29" name="Rectangle 29"/>
            <p:cNvSpPr/>
            <p:nvPr/>
          </p:nvSpPr>
          <p:spPr>
            <a:xfrm>
              <a:off x="9001125" y="1476375"/>
              <a:ext cx="2619375" cy="571500"/>
            </a:xfrm>
            <a:prstGeom prst="roundRect">
              <a:avLst>
                <a:gd name="adj" fmla="val 13333"/>
              </a:avLst>
            </a:prstGeom>
            <a:solidFill>
              <a:srgbClr val="F3EEE6"/>
            </a:solidFill>
            <a:ln>
              <a:noFill/>
            </a:ln>
          </p:spPr>
        </p:sp>
        <p:sp>
          <p:nvSpPr>
            <p:cNvPr id="30" name="Ellipse 30"/>
            <p:cNvSpPr/>
            <p:nvPr/>
          </p:nvSpPr>
          <p:spPr>
            <a:xfrm>
              <a:off x="9191625" y="1619250"/>
              <a:ext cx="285750" cy="285750"/>
            </a:xfrm>
            <a:prstGeom prst="ellipse">
              <a:avLst/>
            </a:prstGeom>
            <a:solidFill>
              <a:srgbClr val="4A7C59"/>
            </a:solidFill>
            <a:ln>
              <a:noFill/>
            </a:ln>
          </p:spPr>
        </p:sp>
        <p:sp>
          <p:nvSpPr>
            <p:cNvPr id="31" name="TextBox 31"/>
            <p:cNvSpPr txBox="1"/>
            <p:nvPr/>
          </p:nvSpPr>
          <p:spPr>
            <a:xfrm>
              <a:off x="9285249" y="16978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32" name="TextBox 32"/>
            <p:cNvSpPr txBox="1"/>
            <p:nvPr/>
          </p:nvSpPr>
          <p:spPr>
            <a:xfrm>
              <a:off x="9613773" y="1681639"/>
              <a:ext cx="1046836" cy="249364"/>
            </a:xfrm>
            <a:prstGeom prst="rect">
              <a:avLst/>
            </a:prstGeom>
            <a:noFill/>
            <a:ln>
              <a:noFill/>
            </a:ln>
          </p:spPr>
          <p:txBody>
            <a:bodyPr wrap="none" lIns="0" tIns="0" rIns="0" bIns="0" anchor="t" anchorCtr="0">
              <a:spAutoFit/>
            </a:bodyPr>
            <a:lstStyle/>
            <a:p>
              <a:pPr algn="l"/>
              <a:r>
                <a:rPr lang="zh-CN" sz="1280" b="1" dirty="0">
                  <a:solidFill>
                    <a:srgbClr val="262220"/>
                  </a:solidFill>
                  <a:latin typeface="+mn-lt"/>
                  <a:ea typeface="+mn-ea"/>
                  <a:cs typeface="+mn-cs"/>
                </a:rPr>
                <a:t>色彩系统统一</a:t>
              </a:r>
            </a:p>
          </p:txBody>
        </p:sp>
        <p:sp>
          <p:nvSpPr>
            <p:cNvPr id="33" name="TextBox 33"/>
            <p:cNvSpPr txBox="1"/>
            <p:nvPr/>
          </p:nvSpPr>
          <p:spPr>
            <a:xfrm>
              <a:off x="9186291" y="2220278"/>
              <a:ext cx="1477518" cy="1938909"/>
            </a:xfrm>
            <a:prstGeom prst="rect">
              <a:avLst/>
            </a:prstGeom>
            <a:noFill/>
            <a:ln>
              <a:noFill/>
            </a:ln>
          </p:spPr>
          <p:txBody>
            <a:bodyPr wrap="none" lIns="0" tIns="0" rIns="0" bIns="0" anchor="t" anchorCtr="0">
              <a:spAutoFit/>
            </a:bodyPr>
            <a:lstStyle/>
            <a:p>
              <a:pPr algn="l" marL="119015" indent="-119015">
                <a:lnSpc>
                  <a:spcPts val="1500"/>
                </a:lnSpc>
                <a:buClr>
                  <a:srgbClr val="4A7C59"/>
                </a:buClr>
                <a:buSzTx/>
                <a:buFontTx/>
                <a:buChar char="●"/>
              </a:pPr>
              <a:r>
                <a:rPr lang="zh-CN" sz="1050" b="1" dirty="0">
                  <a:solidFill>
                    <a:srgbClr val="4A7C59"/>
                  </a:solidFill>
                  <a:latin typeface="+mn-lt"/>
                  <a:ea typeface="+mn-ea"/>
                  <a:cs typeface="+mn-cs"/>
                </a:rPr>
                <a:t>限定专色体系：</a:t>
              </a:r>
            </a:p>
            <a:p>
              <a:pPr algn="l">
                <a:lnSpc>
                  <a:spcPts val="1500"/>
                </a:lnSpc>
                <a:spcBef>
                  <a:spcPts val="150"/>
                </a:spcBef>
              </a:pPr>
              <a:r>
                <a:rPr lang="zh-CN" sz="1050" dirty="0">
                  <a:solidFill>
                    <a:srgbClr val="4A4541"/>
                  </a:solidFill>
                  <a:latin typeface="+mn-lt"/>
                  <a:ea typeface="+mn-ea"/>
                  <a:cs typeface="+mn-cs"/>
                </a:rPr>
                <a:t>确立朱砂红、黛蓝、</a:t>
              </a:r>
              <a:br/>
              <a:r>
                <a:rPr lang="zh-CN" sz="1050" dirty="0">
                  <a:solidFill>
                    <a:srgbClr val="4A4541"/>
                  </a:solidFill>
                  <a:latin typeface="+mn-lt"/>
                  <a:ea typeface="+mn-ea"/>
                  <a:cs typeface="+mn-cs"/>
                </a:rPr>
                <a:t>藤黄、松绿四大主色。</a:t>
              </a:r>
            </a:p>
            <a:p>
              <a:pPr algn="l" marL="119015" indent="-119015">
                <a:lnSpc>
                  <a:spcPts val="1500"/>
                </a:lnSpc>
                <a:spcBef>
                  <a:spcPts val="600"/>
                </a:spcBef>
                <a:buClr>
                  <a:srgbClr val="4A7C59"/>
                </a:buClr>
                <a:buSzTx/>
                <a:buFontTx/>
                <a:buChar char="●"/>
              </a:pPr>
              <a:r>
                <a:rPr lang="zh-CN" sz="1050" b="1" dirty="0">
                  <a:solidFill>
                    <a:srgbClr val="4A7C59"/>
                  </a:solidFill>
                  <a:latin typeface="+mn-lt"/>
                  <a:ea typeface="+mn-ea"/>
                  <a:cs typeface="+mn-cs"/>
                </a:rPr>
                <a:t>平涂色块处理：</a:t>
              </a:r>
            </a:p>
            <a:p>
              <a:pPr algn="l">
                <a:lnSpc>
                  <a:spcPts val="1500"/>
                </a:lnSpc>
                <a:spcBef>
                  <a:spcPts val="150"/>
                </a:spcBef>
              </a:pPr>
              <a:r>
                <a:rPr lang="zh-CN" sz="1050" dirty="0">
                  <a:solidFill>
                    <a:srgbClr val="4A4541"/>
                  </a:solidFill>
                  <a:latin typeface="+mn-lt"/>
                  <a:ea typeface="+mn-ea"/>
                  <a:cs typeface="+mn-cs"/>
                </a:rPr>
                <a:t>杜绝复杂过渡色，</a:t>
              </a:r>
              <a:br/>
              <a:r>
                <a:rPr lang="zh-CN" sz="1050" dirty="0">
                  <a:solidFill>
                    <a:srgbClr val="4A4541"/>
                  </a:solidFill>
                  <a:latin typeface="+mn-lt"/>
                  <a:ea typeface="+mn-ea"/>
                  <a:cs typeface="+mn-cs"/>
                </a:rPr>
                <a:t>保证套印色彩纯度。</a:t>
              </a:r>
            </a:p>
            <a:p>
              <a:pPr algn="l" marL="119015" indent="-119015">
                <a:lnSpc>
                  <a:spcPts val="1500"/>
                </a:lnSpc>
                <a:spcBef>
                  <a:spcPts val="600"/>
                </a:spcBef>
                <a:buClr>
                  <a:srgbClr val="4A7C59"/>
                </a:buClr>
                <a:buSzTx/>
                <a:buFontTx/>
                <a:buChar char="●"/>
              </a:pPr>
              <a:r>
                <a:rPr lang="zh-CN" sz="1050" b="1" dirty="0">
                  <a:solidFill>
                    <a:srgbClr val="4A7C59"/>
                  </a:solidFill>
                  <a:latin typeface="+mn-lt"/>
                  <a:ea typeface="+mn-ea"/>
                  <a:cs typeface="+mn-cs"/>
                </a:rPr>
                <a:t>雅致现代调性：</a:t>
              </a:r>
            </a:p>
            <a:p>
              <a:pPr algn="l">
                <a:lnSpc>
                  <a:spcPts val="1500"/>
                </a:lnSpc>
                <a:spcBef>
                  <a:spcPts val="150"/>
                </a:spcBef>
              </a:pPr>
              <a:r>
                <a:rPr lang="zh-CN" sz="1050" dirty="0">
                  <a:solidFill>
                    <a:srgbClr val="4A4541"/>
                  </a:solidFill>
                  <a:latin typeface="+mn-lt"/>
                  <a:ea typeface="+mn-ea"/>
                  <a:cs typeface="+mn-cs"/>
                </a:rPr>
                <a:t>饱含民俗温度，呈现</a:t>
              </a:r>
              <a:br/>
              <a:r>
                <a:rPr lang="zh-CN" sz="1050" dirty="0">
                  <a:solidFill>
                    <a:srgbClr val="4A4541"/>
                  </a:solidFill>
                  <a:latin typeface="+mn-lt"/>
                  <a:ea typeface="+mn-ea"/>
                  <a:cs typeface="+mn-cs"/>
                </a:rPr>
                <a:t>精致干练当代设计美感。</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6-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作品一</a:t>
              </a:r>
            </a:p>
          </p:txBody>
        </p:sp>
        <p:sp>
          <p:nvSpPr>
            <p:cNvPr id="4" name="TextBox 4"/>
            <p:cNvSpPr txBox="1"/>
            <p:nvPr/>
          </p:nvSpPr>
          <p:spPr>
            <a:xfrm>
              <a:off x="560832" y="840105"/>
              <a:ext cx="3472421"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双鱼吉祥适合纹 · 年年有余</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06-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071688"/>
              <a:ext cx="4762500" cy="3571875"/>
            </a:xfrm>
            <a:prstGeom prst="rect">
              <a:avLst/>
            </a:prstGeom>
          </p:spPr>
        </p:pic>
      </p:grpSp>
      <p:grpSp>
        <p:nvGrpSpPr>
          <p:cNvPr id="14" name="p06-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B83A2E"/>
                  </a:solidFill>
                  <a:latin typeface="+mn-lt"/>
                  <a:ea typeface="+mn-ea"/>
                  <a:cs typeface="+mn-cs"/>
                </a:rPr>
                <a:t>作品特征与设计解析</a:t>
              </a:r>
            </a:p>
          </p:txBody>
        </p:sp>
        <p:sp>
          <p:nvSpPr>
            <p:cNvPr id="13" name="TextBox 13"/>
            <p:cNvSpPr txBox="1"/>
            <p:nvPr/>
          </p:nvSpPr>
          <p:spPr>
            <a:xfrm>
              <a:off x="6233160" y="2021681"/>
              <a:ext cx="4563110"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以汴绣中经典的“双鱼”为题材核心，采用经典的圆形适合纹样构图。</a:t>
              </a:r>
              <a:br/>
              <a:r>
                <a:rPr lang="zh-CN" sz="1120" dirty="0">
                  <a:solidFill>
                    <a:srgbClr val="4A4541"/>
                  </a:solidFill>
                  <a:latin typeface="+mn-lt"/>
                  <a:ea typeface="+mn-ea"/>
                  <a:cs typeface="+mn-cs"/>
                </a:rPr>
                <a:t>两条锦鲤首尾相互回旋环绕，身姿舒展柔和，形成顺畅生动的流线动态。</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外围辅以轻盈灵动的水纹与云纹，烘托双鱼游弋的意境空间。</a:t>
              </a:r>
              <a:br/>
              <a:r>
                <a:rPr lang="zh-CN" sz="1120" dirty="0">
                  <a:solidFill>
                    <a:srgbClr val="4A4541"/>
                  </a:solidFill>
                  <a:latin typeface="+mn-lt"/>
                  <a:ea typeface="+mn-ea"/>
                  <a:cs typeface="+mn-cs"/>
                </a:rPr>
                <a:t>画面饱满而不显拥塞，虚实相生，展现了传统适合纹样的精密章法。</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承载中原传统民俗中“年年有余”、“富贵双全”的吉祥祝福。</a:t>
              </a:r>
            </a:p>
            <a:p>
              <a:pPr algn="l">
                <a:lnSpc>
                  <a:spcPts val="1875"/>
                </a:lnSpc>
                <a:spcBef>
                  <a:spcPts val="750"/>
                </a:spcBef>
              </a:pPr>
              <a:r>
                <a:rPr lang="zh-CN" sz="1120" b="1" dirty="0">
                  <a:solidFill>
                    <a:srgbClr val="B83A2E"/>
                  </a:solidFill>
                  <a:latin typeface="+mn-lt"/>
                  <a:ea typeface="+mn-ea"/>
                  <a:cs typeface="+mn-cs"/>
                </a:rPr>
                <a:t>【工艺落地与载体适配】</a:t>
              </a:r>
              <a:br/>
              <a:r>
                <a:rPr lang="zh-CN" sz="1120" dirty="0">
                  <a:solidFill>
                    <a:srgbClr val="4A4541"/>
                  </a:solidFill>
                  <a:latin typeface="+mn-lt"/>
                  <a:ea typeface="+mn-ea"/>
                  <a:cs typeface="+mn-cs"/>
                </a:rPr>
                <a:t>● 适合载体：圆形文创贴纸、金属漆徽章、陶瓷杯垫、茶礼封签。</a:t>
              </a:r>
              <a:br/>
              <a:r>
                <a:rPr lang="zh-CN" sz="1120" dirty="0">
                  <a:solidFill>
                    <a:srgbClr val="4A4541"/>
                  </a:solidFill>
                  <a:latin typeface="+mn-lt"/>
                  <a:ea typeface="+mn-ea"/>
                  <a:cs typeface="+mn-cs"/>
                </a:rPr>
                <a:t>● 印刷工艺：高精度丝网印刷、特种纸烫金分色套印，利于模切成型。</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7-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作品二</a:t>
              </a:r>
            </a:p>
          </p:txBody>
        </p:sp>
        <p:sp>
          <p:nvSpPr>
            <p:cNvPr id="4" name="TextBox 4"/>
            <p:cNvSpPr txBox="1"/>
            <p:nvPr/>
          </p:nvSpPr>
          <p:spPr>
            <a:xfrm>
              <a:off x="560832" y="840105"/>
              <a:ext cx="3472421"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对称卷草边饰纹 · 边框界定</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07-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071688"/>
              <a:ext cx="4762500" cy="3571875"/>
            </a:xfrm>
            <a:prstGeom prst="rect">
              <a:avLst/>
            </a:prstGeom>
          </p:spPr>
        </p:pic>
      </p:grpSp>
      <p:grpSp>
        <p:nvGrpSpPr>
          <p:cNvPr id="14" name="p07-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2B5F75"/>
                  </a:solidFill>
                  <a:latin typeface="+mn-lt"/>
                  <a:ea typeface="+mn-ea"/>
                  <a:cs typeface="+mn-cs"/>
                </a:rPr>
                <a:t>作品特征与设计解析</a:t>
              </a:r>
            </a:p>
          </p:txBody>
        </p:sp>
        <p:sp>
          <p:nvSpPr>
            <p:cNvPr id="13" name="TextBox 13"/>
            <p:cNvSpPr txBox="1"/>
            <p:nvPr/>
          </p:nvSpPr>
          <p:spPr>
            <a:xfrm>
              <a:off x="6233160" y="2021681"/>
              <a:ext cx="4705350"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参考传统北宋服饰镶边与器物边缘的装饰图案，形成横向二方连续意象。</a:t>
              </a:r>
              <a:br/>
              <a:r>
                <a:rPr lang="zh-CN" sz="1120" dirty="0">
                  <a:solidFill>
                    <a:srgbClr val="4A4541"/>
                  </a:solidFill>
                  <a:latin typeface="+mn-lt"/>
                  <a:ea typeface="+mn-ea"/>
                  <a:cs typeface="+mn-cs"/>
                </a:rPr>
                <a:t>图形沿水平轴线严密对称展开，线条卷曲翻转，节奏平缓而富有韵律感。</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自身具备鲜明的边框与界定属性，能够自然引导视线方向。</a:t>
              </a:r>
              <a:br/>
              <a:r>
                <a:rPr lang="zh-CN" sz="1120" dirty="0">
                  <a:solidFill>
                    <a:srgbClr val="4A4541"/>
                  </a:solidFill>
                  <a:latin typeface="+mn-lt"/>
                  <a:ea typeface="+mn-ea"/>
                  <a:cs typeface="+mn-cs"/>
                </a:rPr>
                <a:t>在图形中心形成张弛有度的留白孔径，呈现内敛典雅的宋式装饰美。</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保留传统卷草纹生生不息的动态，同时将笔触规范为均质平滑的矢量边缘。</a:t>
              </a:r>
            </a:p>
            <a:p>
              <a:pPr algn="l">
                <a:lnSpc>
                  <a:spcPts val="1875"/>
                </a:lnSpc>
                <a:spcBef>
                  <a:spcPts val="750"/>
                </a:spcBef>
              </a:pPr>
              <a:r>
                <a:rPr lang="zh-CN" sz="1120" b="1" dirty="0">
                  <a:solidFill>
                    <a:srgbClr val="2B5F75"/>
                  </a:solidFill>
                  <a:latin typeface="+mn-lt"/>
                  <a:ea typeface="+mn-ea"/>
                  <a:cs typeface="+mn-cs"/>
                </a:rPr>
                <a:t>【工艺落地与载体适配】</a:t>
              </a:r>
              <a:br/>
              <a:r>
                <a:rPr lang="zh-CN" sz="1120" dirty="0">
                  <a:solidFill>
                    <a:srgbClr val="4A4541"/>
                  </a:solidFill>
                  <a:latin typeface="+mn-lt"/>
                  <a:ea typeface="+mn-ea"/>
                  <a:cs typeface="+mn-cs"/>
                </a:rPr>
                <a:t>● 适合载体：精装书籍书脊装饰、礼品包装盒侧边条、展览宣传海报外框。</a:t>
              </a:r>
              <a:br/>
              <a:r>
                <a:rPr lang="zh-CN" sz="1120" dirty="0">
                  <a:solidFill>
                    <a:srgbClr val="4A4541"/>
                  </a:solidFill>
                  <a:latin typeface="+mn-lt"/>
                  <a:ea typeface="+mn-ea"/>
                  <a:cs typeface="+mn-cs"/>
                </a:rPr>
                <a:t>● 印刷工艺：胶印专色打底、丝印UV局部光油或压凹凸击凸工艺。</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8-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作品三</a:t>
              </a:r>
            </a:p>
          </p:txBody>
        </p:sp>
        <p:sp>
          <p:nvSpPr>
            <p:cNvPr id="4" name="TextBox 4"/>
            <p:cNvSpPr txBox="1"/>
            <p:nvPr/>
          </p:nvSpPr>
          <p:spPr>
            <a:xfrm>
              <a:off x="560832" y="840105"/>
              <a:ext cx="3189719"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海棠形团花纹 · 顺遂安康</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08-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202656"/>
              <a:ext cx="4762500" cy="3309938"/>
            </a:xfrm>
            <a:prstGeom prst="rect">
              <a:avLst/>
            </a:prstGeom>
          </p:spPr>
        </p:pic>
      </p:grpSp>
      <p:grpSp>
        <p:nvGrpSpPr>
          <p:cNvPr id="14" name="p08-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C4892B"/>
                  </a:solidFill>
                  <a:latin typeface="+mn-lt"/>
                  <a:ea typeface="+mn-ea"/>
                  <a:cs typeface="+mn-cs"/>
                </a:rPr>
                <a:t>作品特征与设计解析</a:t>
              </a:r>
            </a:p>
          </p:txBody>
        </p:sp>
        <p:sp>
          <p:nvSpPr>
            <p:cNvPr id="13" name="TextBox 13"/>
            <p:cNvSpPr txBox="1"/>
            <p:nvPr/>
          </p:nvSpPr>
          <p:spPr>
            <a:xfrm>
              <a:off x="6233160" y="2021681"/>
              <a:ext cx="4762246"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借鉴中国传统建筑、瓷器中极具雅趣的“海棠开光”四曲轮廓造型。</a:t>
              </a:r>
              <a:br/>
              <a:r>
                <a:rPr lang="zh-CN" sz="1120" dirty="0">
                  <a:solidFill>
                    <a:srgbClr val="4A4541"/>
                  </a:solidFill>
                  <a:latin typeface="+mn-lt"/>
                  <a:ea typeface="+mn-ea"/>
                  <a:cs typeface="+mn-cs"/>
                </a:rPr>
                <a:t>外轮廓曲线温婉端庄，内部以流线云气纹与卷草纹相互穿插掩映。</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画面疏密得体、松紧有度，内部核状结构凝聚视线，边缘回纹向外舒展。</a:t>
              </a:r>
              <a:br/>
              <a:r>
                <a:rPr lang="zh-CN" sz="1120" dirty="0">
                  <a:solidFill>
                    <a:srgbClr val="4A4541"/>
                  </a:solidFill>
                  <a:latin typeface="+mn-lt"/>
                  <a:ea typeface="+mn-ea"/>
                  <a:cs typeface="+mn-cs"/>
                </a:rPr>
                <a:t>整体视觉极具向心力与稳定感，适于作为独立主视觉符号。</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海棠自古被视为“玉堂富贵”之祥兆，象征岁月静好、福寿绵长与家庭和美。</a:t>
              </a:r>
            </a:p>
            <a:p>
              <a:pPr algn="l">
                <a:lnSpc>
                  <a:spcPts val="1875"/>
                </a:lnSpc>
                <a:spcBef>
                  <a:spcPts val="750"/>
                </a:spcBef>
              </a:pPr>
              <a:r>
                <a:rPr lang="zh-CN" sz="1120" b="1" dirty="0">
                  <a:solidFill>
                    <a:srgbClr val="C4892B"/>
                  </a:solidFill>
                  <a:latin typeface="+mn-lt"/>
                  <a:ea typeface="+mn-ea"/>
                  <a:cs typeface="+mn-cs"/>
                </a:rPr>
                <a:t>【工艺落地与载体适配】</a:t>
              </a:r>
              <a:br/>
              <a:r>
                <a:rPr lang="zh-CN" sz="1120" dirty="0">
                  <a:solidFill>
                    <a:srgbClr val="4A4541"/>
                  </a:solidFill>
                  <a:latin typeface="+mn-lt"/>
                  <a:ea typeface="+mn-ea"/>
                  <a:cs typeface="+mn-cs"/>
                </a:rPr>
                <a:t>● 适合载体：高档礼仪贺卡镂空开窗、中秋/新春礼盒主图、文创香氛贴标。</a:t>
              </a:r>
              <a:br/>
              <a:r>
                <a:rPr lang="zh-CN" sz="1120" dirty="0">
                  <a:solidFill>
                    <a:srgbClr val="4A4541"/>
                  </a:solidFill>
                  <a:latin typeface="+mn-lt"/>
                  <a:ea typeface="+mn-ea"/>
                  <a:cs typeface="+mn-cs"/>
                </a:rPr>
                <a:t>● 印刷工艺：激光模切开窗、特种纸烫哑金、UV浮雕击凸，立体感极强。</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09-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作品四</a:t>
              </a:r>
            </a:p>
          </p:txBody>
        </p:sp>
        <p:sp>
          <p:nvSpPr>
            <p:cNvPr id="4" name="TextBox 4"/>
            <p:cNvSpPr txBox="1"/>
            <p:nvPr/>
          </p:nvSpPr>
          <p:spPr>
            <a:xfrm>
              <a:off x="560832" y="840105"/>
              <a:ext cx="3189719"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宝相莲团花纹 · 端庄华贵</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09-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071688"/>
              <a:ext cx="4762500" cy="3571875"/>
            </a:xfrm>
            <a:prstGeom prst="rect">
              <a:avLst/>
            </a:prstGeom>
          </p:spPr>
        </p:pic>
      </p:grpSp>
      <p:grpSp>
        <p:nvGrpSpPr>
          <p:cNvPr id="14" name="p09-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4A7C59"/>
                  </a:solidFill>
                  <a:latin typeface="+mn-lt"/>
                  <a:ea typeface="+mn-ea"/>
                  <a:cs typeface="+mn-cs"/>
                </a:rPr>
                <a:t>作品特征与设计解析</a:t>
              </a:r>
            </a:p>
          </p:txBody>
        </p:sp>
        <p:sp>
          <p:nvSpPr>
            <p:cNvPr id="13" name="TextBox 13"/>
            <p:cNvSpPr txBox="1"/>
            <p:nvPr/>
          </p:nvSpPr>
          <p:spPr>
            <a:xfrm>
              <a:off x="6233160" y="2021681"/>
              <a:ext cx="4705350"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宝相花是盛唐与北宋装饰艺术的巅峰符号，在汴绣经典作品中频频亮相。</a:t>
              </a:r>
              <a:br/>
              <a:r>
                <a:rPr lang="zh-CN" sz="1120" dirty="0">
                  <a:solidFill>
                    <a:srgbClr val="4A4541"/>
                  </a:solidFill>
                  <a:latin typeface="+mn-lt"/>
                  <a:ea typeface="+mn-ea"/>
                  <a:cs typeface="+mn-cs"/>
                </a:rPr>
                <a:t>本设计采用纯粹的中心向外多重放射式构图，花蕊、莲瓣与卷云环环相扣。</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花瓣层层舒展、形态庄重典雅，剔除了传统刺绣繁复的交织乱线。</a:t>
              </a:r>
              <a:br/>
              <a:r>
                <a:rPr lang="zh-CN" sz="1120" dirty="0">
                  <a:solidFill>
                    <a:srgbClr val="4A4541"/>
                  </a:solidFill>
                  <a:latin typeface="+mn-lt"/>
                  <a:ea typeface="+mn-ea"/>
                  <a:cs typeface="+mn-cs"/>
                </a:rPr>
                <a:t>以纯净的圆弧与对称线条构筑强烈的视觉仪式感与秩序感。</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青绿莲瓣衬托明黄花芯与藕粉外轮廓，雅致脱俗，再现宋代文人高雅品格。</a:t>
              </a:r>
            </a:p>
            <a:p>
              <a:pPr algn="l">
                <a:lnSpc>
                  <a:spcPts val="1875"/>
                </a:lnSpc>
                <a:spcBef>
                  <a:spcPts val="750"/>
                </a:spcBef>
              </a:pPr>
              <a:r>
                <a:rPr lang="zh-CN" sz="1120" b="1" dirty="0">
                  <a:solidFill>
                    <a:srgbClr val="4A7C59"/>
                  </a:solidFill>
                  <a:latin typeface="+mn-lt"/>
                  <a:ea typeface="+mn-ea"/>
                  <a:cs typeface="+mn-cs"/>
                </a:rPr>
                <a:t>【工艺落地与载体适配】</a:t>
              </a:r>
              <a:br/>
              <a:r>
                <a:rPr lang="zh-CN" sz="1120" dirty="0">
                  <a:solidFill>
                    <a:srgbClr val="4A4541"/>
                  </a:solidFill>
                  <a:latin typeface="+mn-lt"/>
                  <a:ea typeface="+mn-ea"/>
                  <a:cs typeface="+mn-cs"/>
                </a:rPr>
                <a:t>● 适合载体：文博纪念明信片、丝绸方巾主纹、高端文具精装封绘、挂盘。</a:t>
              </a:r>
              <a:br/>
              <a:r>
                <a:rPr lang="zh-CN" sz="1120" dirty="0">
                  <a:solidFill>
                    <a:srgbClr val="4A4541"/>
                  </a:solidFill>
                  <a:latin typeface="+mn-lt"/>
                  <a:ea typeface="+mn-ea"/>
                  <a:cs typeface="+mn-cs"/>
                </a:rPr>
                <a:t>● 印刷工艺：多层网版丝印、织物数码印花、封面多重烫金烫银。</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10-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作品五</a:t>
              </a:r>
            </a:p>
          </p:txBody>
        </p:sp>
        <p:sp>
          <p:nvSpPr>
            <p:cNvPr id="4" name="TextBox 4"/>
            <p:cNvSpPr txBox="1"/>
            <p:nvPr/>
          </p:nvSpPr>
          <p:spPr>
            <a:xfrm>
              <a:off x="560832" y="840105"/>
              <a:ext cx="3472421"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竖向对称花卉纹 · 纵向张力</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10-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071688"/>
              <a:ext cx="4762500" cy="3571875"/>
            </a:xfrm>
            <a:prstGeom prst="rect">
              <a:avLst/>
            </a:prstGeom>
          </p:spPr>
        </p:pic>
      </p:grpSp>
      <p:grpSp>
        <p:nvGrpSpPr>
          <p:cNvPr id="14" name="p10-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B83A2E"/>
                  </a:solidFill>
                  <a:latin typeface="+mn-lt"/>
                  <a:ea typeface="+mn-ea"/>
                  <a:cs typeface="+mn-cs"/>
                </a:rPr>
                <a:t>作品特征与设计解析</a:t>
              </a:r>
            </a:p>
          </p:txBody>
        </p:sp>
        <p:sp>
          <p:nvSpPr>
            <p:cNvPr id="13" name="TextBox 13"/>
            <p:cNvSpPr txBox="1"/>
            <p:nvPr/>
          </p:nvSpPr>
          <p:spPr>
            <a:xfrm>
              <a:off x="6233160" y="2021681"/>
              <a:ext cx="4968494"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突破传统圆形为主的局限，采用左右严整对称、向上挺拔延展的竖直构图。</a:t>
              </a:r>
              <a:br/>
              <a:r>
                <a:rPr lang="zh-CN" sz="1120" dirty="0">
                  <a:solidFill>
                    <a:srgbClr val="4A4541"/>
                  </a:solidFill>
                  <a:latin typeface="+mn-lt"/>
                  <a:ea typeface="+mn-ea"/>
                  <a:cs typeface="+mn-cs"/>
                </a:rPr>
                <a:t>以中央翠绿茎叶为垂直脊梁，顶端硕花盎然绽放，展现向上的生命张力。</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两侧叶片向左右展翅托衬，底座宽稳厚重，整体呈现稳健的金字塔平衡。</a:t>
              </a:r>
              <a:br/>
              <a:r>
                <a:rPr lang="zh-CN" sz="1120" dirty="0">
                  <a:solidFill>
                    <a:srgbClr val="4A4541"/>
                  </a:solidFill>
                  <a:latin typeface="+mn-lt"/>
                  <a:ea typeface="+mn-ea"/>
                  <a:cs typeface="+mn-cs"/>
                </a:rPr>
                <a:t>橙、绿、蓝明朗对撞，既有中原泥塑与年画的明艳，又有宋代锦缎的典雅。</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对于窄长条状的实用版面具有得天独厚的排版适应性。</a:t>
              </a:r>
            </a:p>
            <a:p>
              <a:pPr algn="l">
                <a:lnSpc>
                  <a:spcPts val="1875"/>
                </a:lnSpc>
                <a:spcBef>
                  <a:spcPts val="750"/>
                </a:spcBef>
              </a:pPr>
              <a:r>
                <a:rPr lang="zh-CN" sz="1120" b="1" dirty="0">
                  <a:solidFill>
                    <a:srgbClr val="B83A2E"/>
                  </a:solidFill>
                  <a:latin typeface="+mn-lt"/>
                  <a:ea typeface="+mn-ea"/>
                  <a:cs typeface="+mn-cs"/>
                </a:rPr>
                <a:t>【工艺落地与载体适配】</a:t>
              </a:r>
              <a:br/>
              <a:r>
                <a:rPr lang="zh-CN" sz="1120" dirty="0">
                  <a:solidFill>
                    <a:srgbClr val="4A4541"/>
                  </a:solidFill>
                  <a:latin typeface="+mn-lt"/>
                  <a:ea typeface="+mn-ea"/>
                  <a:cs typeface="+mn-cs"/>
                </a:rPr>
                <a:t>● 适合载体：黄铜镂空金属书签、特种纸竖式请柬封套、文创帆布袋侧条纹样。</a:t>
              </a:r>
              <a:br/>
              <a:r>
                <a:rPr lang="zh-CN" sz="1120" dirty="0">
                  <a:solidFill>
                    <a:srgbClr val="4A4541"/>
                  </a:solidFill>
                  <a:latin typeface="+mn-lt"/>
                  <a:ea typeface="+mn-ea"/>
                  <a:cs typeface="+mn-cs"/>
                </a:rPr>
                <a:t>● 印刷工艺：金属腐蚀填色、四色胶印结合局部哑金烫印工艺。</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11-header"/>
          <p:cNvGrpSpPr/>
          <p:nvPr/>
        </p:nvGrpSpPr>
        <p:grpSpPr>
          <a:xfrm>
            <a:off x="560832" y="601028"/>
            <a:ext cx="11059668" cy="649795"/>
            <a:chOff x="560832" y="601028"/>
            <a:chExt cx="11059668" cy="649795"/>
          </a:xfrm>
        </p:grpSpPr>
        <p:sp>
          <p:nvSpPr>
            <p:cNvPr id="3" name="TextBox 3"/>
            <p:cNvSpPr txBox="1"/>
            <p:nvPr/>
          </p:nvSpPr>
          <p:spPr>
            <a:xfrm>
              <a:off x="566166" y="601028"/>
              <a:ext cx="1940567"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04 系列作品解读 · 作品六</a:t>
              </a:r>
            </a:p>
          </p:txBody>
        </p:sp>
        <p:sp>
          <p:nvSpPr>
            <p:cNvPr id="4" name="TextBox 4"/>
            <p:cNvSpPr txBox="1"/>
            <p:nvPr/>
          </p:nvSpPr>
          <p:spPr>
            <a:xfrm>
              <a:off x="560832" y="840105"/>
              <a:ext cx="2907017"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缠枝花环纹 · 生生不息</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9" name="p11-image-group"/>
          <p:cNvGrpSpPr/>
          <p:nvPr/>
        </p:nvGrpSpPr>
        <p:grpSpPr>
          <a:xfrm>
            <a:off x="571500" y="1381125"/>
            <a:ext cx="5143500" cy="4953000"/>
            <a:chOff x="571500" y="1381125"/>
            <a:chExt cx="5143500" cy="4953000"/>
          </a:xfrm>
        </p:grpSpPr>
        <p:sp>
          <p:nvSpPr>
            <p:cNvPr id="7" name="Rectangle 7"/>
            <p:cNvSpPr/>
            <p:nvPr/>
          </p:nvSpPr>
          <p:spPr>
            <a:xfrm>
              <a:off x="571500" y="1381125"/>
              <a:ext cx="5143500" cy="4953000"/>
            </a:xfrm>
            <a:prstGeom prst="roundRect">
              <a:avLst>
                <a:gd name="adj" fmla="val 1538"/>
              </a:avLst>
            </a:prstGeom>
            <a:solidFill>
              <a:srgbClr val="FFFFFF"/>
            </a:solidFill>
            <a:ln w="9525">
              <a:solidFill>
                <a:srgbClr val="E8E2D8"/>
              </a:solidFill>
            </a:ln>
          </p:spPr>
        </p:sp>
        <p:pic>
          <p:nvPicPr>
            <p:cNvPr id="8" name="Image 8"/>
            <p:cNvPicPr>
              <a:picLocks noChangeAspect="1"/>
            </p:cNvPicPr>
            <p:nvPr/>
          </p:nvPicPr>
          <p:blipFill>
            <a:blip r:embed="rId2"/>
            <a:stretch>
              <a:fillRect/>
            </a:stretch>
          </p:blipFill>
          <p:spPr>
            <a:xfrm>
              <a:off x="762000" y="2071688"/>
              <a:ext cx="4762500" cy="3571875"/>
            </a:xfrm>
            <a:prstGeom prst="rect">
              <a:avLst/>
            </a:prstGeom>
          </p:spPr>
        </p:pic>
      </p:grpSp>
      <p:grpSp>
        <p:nvGrpSpPr>
          <p:cNvPr id="14" name="p11-content-group"/>
          <p:cNvGrpSpPr/>
          <p:nvPr/>
        </p:nvGrpSpPr>
        <p:grpSpPr>
          <a:xfrm>
            <a:off x="6000750" y="1381125"/>
            <a:ext cx="5619750" cy="4953000"/>
            <a:chOff x="6000750" y="1381125"/>
            <a:chExt cx="5619750" cy="4953000"/>
          </a:xfrm>
        </p:grpSpPr>
        <p:sp>
          <p:nvSpPr>
            <p:cNvPr id="10" name="Rectangle 10"/>
            <p:cNvSpPr/>
            <p:nvPr/>
          </p:nvSpPr>
          <p:spPr>
            <a:xfrm>
              <a:off x="6000750" y="1381125"/>
              <a:ext cx="5619750" cy="4953000"/>
            </a:xfrm>
            <a:prstGeom prst="roundRect">
              <a:avLst>
                <a:gd name="adj" fmla="val 1538"/>
              </a:avLst>
            </a:prstGeom>
            <a:solidFill>
              <a:srgbClr val="FFFFFF"/>
            </a:solidFill>
            <a:ln w="9525">
              <a:solidFill>
                <a:srgbClr val="E8E2D8"/>
              </a:solidFill>
            </a:ln>
          </p:spPr>
        </p:sp>
        <p:sp>
          <p:nvSpPr>
            <p:cNvPr id="11" name="Rectangle 11"/>
            <p:cNvSpPr/>
            <p:nvPr/>
          </p:nvSpPr>
          <p:spPr>
            <a:xfrm>
              <a:off x="6000750" y="1381125"/>
              <a:ext cx="5619750" cy="457200"/>
            </a:xfrm>
            <a:prstGeom prst="roundRect">
              <a:avLst>
                <a:gd name="adj" fmla="val 16667"/>
              </a:avLst>
            </a:prstGeom>
            <a:solidFill>
              <a:srgbClr val="F3EEE6"/>
            </a:solidFill>
            <a:ln>
              <a:noFill/>
            </a:ln>
          </p:spPr>
        </p:sp>
        <p:sp>
          <p:nvSpPr>
            <p:cNvPr id="12" name="TextBox 12"/>
            <p:cNvSpPr txBox="1"/>
            <p:nvPr/>
          </p:nvSpPr>
          <p:spPr>
            <a:xfrm>
              <a:off x="6232017" y="1521142"/>
              <a:ext cx="1649349" cy="264033"/>
            </a:xfrm>
            <a:prstGeom prst="rect">
              <a:avLst/>
            </a:prstGeom>
            <a:noFill/>
            <a:ln>
              <a:noFill/>
            </a:ln>
          </p:spPr>
          <p:txBody>
            <a:bodyPr wrap="none" lIns="0" tIns="0" rIns="0" bIns="0" anchor="t" anchorCtr="0">
              <a:spAutoFit/>
            </a:bodyPr>
            <a:lstStyle/>
            <a:p>
              <a:pPr algn="l"/>
              <a:r>
                <a:rPr lang="zh-CN" sz="1350" b="1" dirty="0">
                  <a:solidFill>
                    <a:srgbClr val="2B5F75"/>
                  </a:solidFill>
                  <a:latin typeface="+mn-lt"/>
                  <a:ea typeface="+mn-ea"/>
                  <a:cs typeface="+mn-cs"/>
                </a:rPr>
                <a:t>作品特征与设计解析</a:t>
              </a:r>
            </a:p>
          </p:txBody>
        </p:sp>
        <p:sp>
          <p:nvSpPr>
            <p:cNvPr id="13" name="TextBox 13"/>
            <p:cNvSpPr txBox="1"/>
            <p:nvPr/>
          </p:nvSpPr>
          <p:spPr>
            <a:xfrm>
              <a:off x="6233160" y="2021681"/>
              <a:ext cx="4847590" cy="2887028"/>
            </a:xfrm>
            <a:prstGeom prst="rect">
              <a:avLst/>
            </a:prstGeom>
            <a:noFill/>
            <a:ln>
              <a:noFill/>
            </a:ln>
          </p:spPr>
          <p:txBody>
            <a:bodyPr wrap="none" lIns="0" tIns="0" rIns="0" bIns="0" anchor="t" anchorCtr="0">
              <a:spAutoFit/>
            </a:bodyPr>
            <a:lstStyle/>
            <a:p>
              <a:pPr algn="l">
                <a:lnSpc>
                  <a:spcPts val="1875"/>
                </a:lnSpc>
              </a:pPr>
              <a:r>
                <a:rPr lang="zh-CN" sz="1120" b="1" dirty="0">
                  <a:solidFill>
                    <a:srgbClr val="262220"/>
                  </a:solidFill>
                  <a:latin typeface="+mn-lt"/>
                  <a:ea typeface="+mn-ea"/>
                  <a:cs typeface="+mn-cs"/>
                </a:rPr>
                <a:t>【设计理念与构图】</a:t>
              </a:r>
              <a:br/>
              <a:r>
                <a:rPr lang="zh-CN" sz="1120" dirty="0">
                  <a:solidFill>
                    <a:srgbClr val="4A4541"/>
                  </a:solidFill>
                  <a:latin typeface="+mn-lt"/>
                  <a:ea typeface="+mn-ea"/>
                  <a:cs typeface="+mn-cs"/>
                </a:rPr>
                <a:t>由经典缠枝花卉互相串联搭接，形成首尾呼应的完整花环大圆环。</a:t>
              </a:r>
              <a:br/>
              <a:r>
                <a:rPr lang="zh-CN" sz="1120" dirty="0">
                  <a:solidFill>
                    <a:srgbClr val="4A4541"/>
                  </a:solidFill>
                  <a:latin typeface="+mn-lt"/>
                  <a:ea typeface="+mn-ea"/>
                  <a:cs typeface="+mn-cs"/>
                </a:rPr>
                <a:t>花藤蔓延交织，飞燕花瓣点缀其间，动势流畅宛如行云流水，气韵生动。</a:t>
              </a:r>
            </a:p>
            <a:p>
              <a:pPr algn="l">
                <a:lnSpc>
                  <a:spcPts val="1875"/>
                </a:lnSpc>
                <a:spcBef>
                  <a:spcPts val="750"/>
                </a:spcBef>
              </a:pPr>
              <a:r>
                <a:rPr lang="zh-CN" sz="1120" b="1" dirty="0">
                  <a:solidFill>
                    <a:srgbClr val="262220"/>
                  </a:solidFill>
                  <a:latin typeface="+mn-lt"/>
                  <a:ea typeface="+mn-ea"/>
                  <a:cs typeface="+mn-cs"/>
                </a:rPr>
                <a:t>【结构与装饰层次】</a:t>
              </a:r>
              <a:br/>
              <a:r>
                <a:rPr lang="zh-CN" sz="1120" dirty="0">
                  <a:solidFill>
                    <a:srgbClr val="4A4541"/>
                  </a:solidFill>
                  <a:latin typeface="+mn-lt"/>
                  <a:ea typeface="+mn-ea"/>
                  <a:cs typeface="+mn-cs"/>
                </a:rPr>
                <a:t>红、金、蓝、绿多色穿插分布，精准还原汴绣“平绣”与“滚针”的流动感。</a:t>
              </a:r>
              <a:br/>
              <a:r>
                <a:rPr lang="zh-CN" sz="1120" dirty="0">
                  <a:solidFill>
                    <a:srgbClr val="4A4541"/>
                  </a:solidFill>
                  <a:latin typeface="+mn-lt"/>
                  <a:ea typeface="+mn-ea"/>
                  <a:cs typeface="+mn-cs"/>
                </a:rPr>
                <a:t>以清晰纯粹的实心色块和金色细勾边取代手工丝线，兼具现代感与古意。</a:t>
              </a:r>
            </a:p>
            <a:p>
              <a:pPr algn="l">
                <a:lnSpc>
                  <a:spcPts val="1875"/>
                </a:lnSpc>
                <a:spcBef>
                  <a:spcPts val="750"/>
                </a:spcBef>
              </a:pPr>
              <a:r>
                <a:rPr lang="zh-CN" sz="1120" b="1" dirty="0">
                  <a:solidFill>
                    <a:srgbClr val="262220"/>
                  </a:solidFill>
                  <a:latin typeface="+mn-lt"/>
                  <a:ea typeface="+mn-ea"/>
                  <a:cs typeface="+mn-cs"/>
                </a:rPr>
                <a:t>【文化内涵与寓意】</a:t>
              </a:r>
              <a:br/>
              <a:r>
                <a:rPr lang="zh-CN" sz="1120" dirty="0">
                  <a:solidFill>
                    <a:srgbClr val="4A4541"/>
                  </a:solidFill>
                  <a:latin typeface="+mn-lt"/>
                  <a:ea typeface="+mn-ea"/>
                  <a:cs typeface="+mn-cs"/>
                </a:rPr>
                <a:t>不仅能够作为独立环形图案使用，其枝叶接口更具备拓展为连续纹样的潜力。</a:t>
              </a:r>
            </a:p>
            <a:p>
              <a:pPr algn="l">
                <a:lnSpc>
                  <a:spcPts val="1875"/>
                </a:lnSpc>
                <a:spcBef>
                  <a:spcPts val="750"/>
                </a:spcBef>
              </a:pPr>
              <a:r>
                <a:rPr lang="zh-CN" sz="1120" b="1" dirty="0">
                  <a:solidFill>
                    <a:srgbClr val="2B5F75"/>
                  </a:solidFill>
                  <a:latin typeface="+mn-lt"/>
                  <a:ea typeface="+mn-ea"/>
                  <a:cs typeface="+mn-cs"/>
                </a:rPr>
                <a:t>【工艺落地与载体适配】</a:t>
              </a:r>
              <a:br/>
              <a:r>
                <a:rPr lang="zh-CN" sz="1120" dirty="0">
                  <a:solidFill>
                    <a:srgbClr val="4A4541"/>
                  </a:solidFill>
                  <a:latin typeface="+mn-lt"/>
                  <a:ea typeface="+mn-ea"/>
                  <a:cs typeface="+mn-cs"/>
                </a:rPr>
                <a:t>● 适合载体：陶瓷文创圆形贴花、文创纸胶带、品牌包装纸四方连续平铺。</a:t>
              </a:r>
              <a:br/>
              <a:r>
                <a:rPr lang="zh-CN" sz="1120" dirty="0">
                  <a:solidFill>
                    <a:srgbClr val="4A4541"/>
                  </a:solidFill>
                  <a:latin typeface="+mn-lt"/>
                  <a:ea typeface="+mn-ea"/>
                  <a:cs typeface="+mn-cs"/>
                </a:rPr>
                <a:t>● 印刷工艺：高温陶瓷花纸贴花印刷、柔印连续卷装印刷、特种纸专色印刷。</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12-header"/>
          <p:cNvGrpSpPr/>
          <p:nvPr/>
        </p:nvGrpSpPr>
        <p:grpSpPr>
          <a:xfrm>
            <a:off x="560832" y="601028"/>
            <a:ext cx="11059668" cy="649795"/>
            <a:chOff x="560832" y="601028"/>
            <a:chExt cx="11059668" cy="649795"/>
          </a:xfrm>
        </p:grpSpPr>
        <p:sp>
          <p:nvSpPr>
            <p:cNvPr id="3" name="TextBox 3"/>
            <p:cNvSpPr txBox="1"/>
            <p:nvPr/>
          </p:nvSpPr>
          <p:spPr>
            <a:xfrm>
              <a:off x="566166" y="601028"/>
              <a:ext cx="1550049"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05 印刷工艺适配分析</a:t>
              </a:r>
            </a:p>
          </p:txBody>
        </p:sp>
        <p:sp>
          <p:nvSpPr>
            <p:cNvPr id="4" name="TextBox 4"/>
            <p:cNvSpPr txBox="1"/>
            <p:nvPr/>
          </p:nvSpPr>
          <p:spPr>
            <a:xfrm>
              <a:off x="560832" y="840105"/>
              <a:ext cx="3696462"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前置工艺考量与技术落地保障</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11" name="p12-card-1"/>
          <p:cNvGrpSpPr/>
          <p:nvPr/>
        </p:nvGrpSpPr>
        <p:grpSpPr>
          <a:xfrm>
            <a:off x="571500" y="1381125"/>
            <a:ext cx="3476625" cy="4048125"/>
            <a:chOff x="571500" y="1381125"/>
            <a:chExt cx="3476625" cy="4048125"/>
          </a:xfrm>
        </p:grpSpPr>
        <p:sp>
          <p:nvSpPr>
            <p:cNvPr id="7" name="Rectangle 7"/>
            <p:cNvSpPr/>
            <p:nvPr/>
          </p:nvSpPr>
          <p:spPr>
            <a:xfrm>
              <a:off x="571500" y="1381125"/>
              <a:ext cx="3476625" cy="4048125"/>
            </a:xfrm>
            <a:prstGeom prst="roundRect">
              <a:avLst>
                <a:gd name="adj" fmla="val 2192"/>
              </a:avLst>
            </a:prstGeom>
            <a:solidFill>
              <a:srgbClr val="FFFFFF"/>
            </a:solidFill>
            <a:ln w="9525">
              <a:solidFill>
                <a:srgbClr val="E8E2D8"/>
              </a:solidFill>
            </a:ln>
          </p:spPr>
        </p:sp>
        <p:sp>
          <p:nvSpPr>
            <p:cNvPr id="8" name="Rectangle 8"/>
            <p:cNvSpPr/>
            <p:nvPr/>
          </p:nvSpPr>
          <p:spPr>
            <a:xfrm>
              <a:off x="571500" y="1381125"/>
              <a:ext cx="3476625" cy="457200"/>
            </a:xfrm>
            <a:prstGeom prst="roundRect">
              <a:avLst>
                <a:gd name="adj" fmla="val 16667"/>
              </a:avLst>
            </a:prstGeom>
            <a:solidFill>
              <a:srgbClr val="F3EEE6"/>
            </a:solidFill>
            <a:ln>
              <a:noFill/>
            </a:ln>
          </p:spPr>
        </p:sp>
        <p:sp>
          <p:nvSpPr>
            <p:cNvPr id="9" name="TextBox 9"/>
            <p:cNvSpPr txBox="1"/>
            <p:nvPr/>
          </p:nvSpPr>
          <p:spPr>
            <a:xfrm>
              <a:off x="755523" y="1529239"/>
              <a:ext cx="1944159" cy="249364"/>
            </a:xfrm>
            <a:prstGeom prst="rect">
              <a:avLst/>
            </a:prstGeom>
            <a:noFill/>
            <a:ln>
              <a:noFill/>
            </a:ln>
          </p:spPr>
          <p:txBody>
            <a:bodyPr wrap="none" lIns="0" tIns="0" rIns="0" bIns="0" anchor="t" anchorCtr="0">
              <a:spAutoFit/>
            </a:bodyPr>
            <a:lstStyle/>
            <a:p>
              <a:pPr algn="l"/>
              <a:r>
                <a:rPr lang="zh-CN" sz="1280" b="1" dirty="0">
                  <a:solidFill>
                    <a:srgbClr val="B83A2E"/>
                  </a:solidFill>
                  <a:latin typeface="+mn-lt"/>
                  <a:ea typeface="+mn-ea"/>
                  <a:cs typeface="+mn-cs"/>
                </a:rPr>
                <a:t>一 · 色块平涂与网点控制</a:t>
              </a:r>
            </a:p>
          </p:txBody>
        </p:sp>
        <p:sp>
          <p:nvSpPr>
            <p:cNvPr id="10" name="TextBox 10"/>
            <p:cNvSpPr txBox="1"/>
            <p:nvPr/>
          </p:nvSpPr>
          <p:spPr>
            <a:xfrm>
              <a:off x="756666" y="2001202"/>
              <a:ext cx="214426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杜绝复杂过渡与渐变：</a:t>
              </a:r>
            </a:p>
            <a:p>
              <a:pPr algn="l">
                <a:lnSpc>
                  <a:spcPts val="1500"/>
                </a:lnSpc>
                <a:spcBef>
                  <a:spcPts val="150"/>
                </a:spcBef>
              </a:pPr>
              <a:r>
                <a:rPr lang="zh-CN" sz="1050" dirty="0">
                  <a:solidFill>
                    <a:srgbClr val="4A4541"/>
                  </a:solidFill>
                  <a:latin typeface="+mn-lt"/>
                  <a:ea typeface="+mn-ea"/>
                  <a:cs typeface="+mn-cs"/>
                </a:rPr>
                <a:t>刺绣微丝渐晕在传统印刷中易出现</a:t>
              </a:r>
              <a:br/>
              <a:r>
                <a:rPr lang="zh-CN" sz="1050" dirty="0">
                  <a:solidFill>
                    <a:srgbClr val="4A4541"/>
                  </a:solidFill>
                  <a:latin typeface="+mn-lt"/>
                  <a:ea typeface="+mn-ea"/>
                  <a:cs typeface="+mn-cs"/>
                </a:rPr>
                <a:t>网点发虚断层，全系采用实心平涂。</a:t>
              </a:r>
            </a:p>
            <a:p>
              <a:pPr algn="l">
                <a:lnSpc>
                  <a:spcPts val="1500"/>
                </a:lnSpc>
                <a:spcBef>
                  <a:spcPts val="600"/>
                </a:spcBef>
              </a:pPr>
              <a:r>
                <a:rPr lang="zh-CN" sz="1050" b="1" dirty="0">
                  <a:solidFill>
                    <a:srgbClr val="262220"/>
                  </a:solidFill>
                  <a:latin typeface="+mn-lt"/>
                  <a:ea typeface="+mn-ea"/>
                  <a:cs typeface="+mn-cs"/>
                </a:rPr>
                <a:t>最小线宽与网点保障：</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正线宽度 ≥ 0.25mm，制版通透</a:t>
              </a:r>
              <a:br/>
              <a:r>
                <a:rPr lang="zh-CN" sz="1050" dirty="0">
                  <a:solidFill>
                    <a:srgbClr val="4A4541"/>
                  </a:solidFill>
                  <a:latin typeface="+mn-lt"/>
                  <a:ea typeface="+mn-ea"/>
                  <a:cs typeface="+mn-cs"/>
                </a:rPr>
                <a:t>● 反白宽度 ≥ 0.35mm，防止糊版</a:t>
              </a:r>
            </a:p>
            <a:p>
              <a:pPr algn="l">
                <a:lnSpc>
                  <a:spcPts val="1500"/>
                </a:lnSpc>
                <a:spcBef>
                  <a:spcPts val="600"/>
                </a:spcBef>
              </a:pPr>
              <a:r>
                <a:rPr lang="zh-CN" sz="1050" b="1" dirty="0">
                  <a:solidFill>
                    <a:srgbClr val="262220"/>
                  </a:solidFill>
                  <a:latin typeface="+mn-lt"/>
                  <a:ea typeface="+mn-ea"/>
                  <a:cs typeface="+mn-cs"/>
                </a:rPr>
                <a:t>保证大面积色彩饱和：</a:t>
              </a:r>
            </a:p>
            <a:p>
              <a:pPr algn="l">
                <a:lnSpc>
                  <a:spcPts val="1500"/>
                </a:lnSpc>
                <a:spcBef>
                  <a:spcPts val="150"/>
                </a:spcBef>
              </a:pPr>
              <a:r>
                <a:rPr lang="zh-CN" sz="1050" dirty="0">
                  <a:solidFill>
                    <a:srgbClr val="4A4541"/>
                  </a:solidFill>
                  <a:latin typeface="+mn-lt"/>
                  <a:ea typeface="+mn-ea"/>
                  <a:cs typeface="+mn-cs"/>
                </a:rPr>
                <a:t>平涂块保证油墨遮盖力强，展现</a:t>
              </a:r>
              <a:br/>
              <a:r>
                <a:rPr lang="zh-CN" sz="1050" dirty="0">
                  <a:solidFill>
                    <a:srgbClr val="4A4541"/>
                  </a:solidFill>
                  <a:latin typeface="+mn-lt"/>
                  <a:ea typeface="+mn-ea"/>
                  <a:cs typeface="+mn-cs"/>
                </a:rPr>
                <a:t>传统宋锦般纯正敦厚的色彩质地。</a:t>
              </a:r>
            </a:p>
          </p:txBody>
        </p:sp>
      </p:grpSp>
      <p:grpSp>
        <p:nvGrpSpPr>
          <p:cNvPr id="16" name="p12-card-2"/>
          <p:cNvGrpSpPr/>
          <p:nvPr/>
        </p:nvGrpSpPr>
        <p:grpSpPr>
          <a:xfrm>
            <a:off x="4333875" y="1381125"/>
            <a:ext cx="3524250" cy="4048125"/>
            <a:chOff x="4333875" y="1381125"/>
            <a:chExt cx="3524250" cy="4048125"/>
          </a:xfrm>
        </p:grpSpPr>
        <p:sp>
          <p:nvSpPr>
            <p:cNvPr id="12" name="Rectangle 12"/>
            <p:cNvSpPr/>
            <p:nvPr/>
          </p:nvSpPr>
          <p:spPr>
            <a:xfrm>
              <a:off x="4333875" y="1381125"/>
              <a:ext cx="3524250" cy="4048125"/>
            </a:xfrm>
            <a:prstGeom prst="roundRect">
              <a:avLst>
                <a:gd name="adj" fmla="val 2162"/>
              </a:avLst>
            </a:prstGeom>
            <a:solidFill>
              <a:srgbClr val="FFFFFF"/>
            </a:solidFill>
            <a:ln w="9525">
              <a:solidFill>
                <a:srgbClr val="E8E2D8"/>
              </a:solidFill>
            </a:ln>
          </p:spPr>
        </p:sp>
        <p:sp>
          <p:nvSpPr>
            <p:cNvPr id="13" name="Rectangle 13"/>
            <p:cNvSpPr/>
            <p:nvPr/>
          </p:nvSpPr>
          <p:spPr>
            <a:xfrm>
              <a:off x="4333875" y="1381125"/>
              <a:ext cx="3524250" cy="457200"/>
            </a:xfrm>
            <a:prstGeom prst="roundRect">
              <a:avLst>
                <a:gd name="adj" fmla="val 16667"/>
              </a:avLst>
            </a:prstGeom>
            <a:solidFill>
              <a:srgbClr val="F3EEE6"/>
            </a:solidFill>
            <a:ln>
              <a:noFill/>
            </a:ln>
          </p:spPr>
        </p:sp>
        <p:sp>
          <p:nvSpPr>
            <p:cNvPr id="14" name="TextBox 14"/>
            <p:cNvSpPr txBox="1"/>
            <p:nvPr/>
          </p:nvSpPr>
          <p:spPr>
            <a:xfrm>
              <a:off x="4517898" y="1529239"/>
              <a:ext cx="1944159" cy="249364"/>
            </a:xfrm>
            <a:prstGeom prst="rect">
              <a:avLst/>
            </a:prstGeom>
            <a:noFill/>
            <a:ln>
              <a:noFill/>
            </a:ln>
          </p:spPr>
          <p:txBody>
            <a:bodyPr wrap="none" lIns="0" tIns="0" rIns="0" bIns="0" anchor="t" anchorCtr="0">
              <a:spAutoFit/>
            </a:bodyPr>
            <a:lstStyle/>
            <a:p>
              <a:pPr algn="l"/>
              <a:r>
                <a:rPr lang="zh-CN" sz="1280" b="1" dirty="0">
                  <a:solidFill>
                    <a:srgbClr val="2B5F75"/>
                  </a:solidFill>
                  <a:latin typeface="+mn-lt"/>
                  <a:ea typeface="+mn-ea"/>
                  <a:cs typeface="+mn-cs"/>
                </a:rPr>
                <a:t>二 · 清晰闭合与制版分色</a:t>
              </a:r>
            </a:p>
          </p:txBody>
        </p:sp>
        <p:sp>
          <p:nvSpPr>
            <p:cNvPr id="15" name="TextBox 15"/>
            <p:cNvSpPr txBox="1"/>
            <p:nvPr/>
          </p:nvSpPr>
          <p:spPr>
            <a:xfrm>
              <a:off x="4519041" y="2001202"/>
              <a:ext cx="227761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矢量闭合路径设计：</a:t>
              </a:r>
            </a:p>
            <a:p>
              <a:pPr algn="l">
                <a:lnSpc>
                  <a:spcPts val="1500"/>
                </a:lnSpc>
                <a:spcBef>
                  <a:spcPts val="150"/>
                </a:spcBef>
              </a:pPr>
              <a:r>
                <a:rPr lang="zh-CN" sz="1050" dirty="0">
                  <a:solidFill>
                    <a:srgbClr val="4A4541"/>
                  </a:solidFill>
                  <a:latin typeface="+mn-lt"/>
                  <a:ea typeface="+mn-ea"/>
                  <a:cs typeface="+mn-cs"/>
                </a:rPr>
                <a:t>装饰形态采用标准闭合贝塞尔曲线，</a:t>
              </a:r>
              <a:br/>
              <a:r>
                <a:rPr lang="zh-CN" sz="1050" dirty="0">
                  <a:solidFill>
                    <a:srgbClr val="4A4541"/>
                  </a:solidFill>
                  <a:latin typeface="+mn-lt"/>
                  <a:ea typeface="+mn-ea"/>
                  <a:cs typeface="+mn-cs"/>
                </a:rPr>
                <a:t>无多余碎锚点与悬空毛刺，纯净利落。</a:t>
              </a:r>
            </a:p>
            <a:p>
              <a:pPr algn="l">
                <a:lnSpc>
                  <a:spcPts val="1500"/>
                </a:lnSpc>
                <a:spcBef>
                  <a:spcPts val="600"/>
                </a:spcBef>
              </a:pPr>
              <a:r>
                <a:rPr lang="zh-CN" sz="1050" b="1" dirty="0">
                  <a:solidFill>
                    <a:srgbClr val="262220"/>
                  </a:solidFill>
                  <a:latin typeface="+mn-lt"/>
                  <a:ea typeface="+mn-ea"/>
                  <a:cs typeface="+mn-cs"/>
                </a:rPr>
                <a:t>分色制版极大便利：</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一键分层导出丝网黑白菲林胶片</a:t>
              </a:r>
              <a:br/>
              <a:r>
                <a:rPr lang="zh-CN" sz="1050" dirty="0">
                  <a:solidFill>
                    <a:srgbClr val="4A4541"/>
                  </a:solidFill>
                  <a:latin typeface="+mn-lt"/>
                  <a:ea typeface="+mn-ea"/>
                  <a:cs typeface="+mn-cs"/>
                </a:rPr>
                <a:t>● 为烫金版、击凸版提供吻合轮廓</a:t>
              </a:r>
            </a:p>
            <a:p>
              <a:pPr algn="l">
                <a:lnSpc>
                  <a:spcPts val="1500"/>
                </a:lnSpc>
                <a:spcBef>
                  <a:spcPts val="600"/>
                </a:spcBef>
              </a:pPr>
              <a:r>
                <a:rPr lang="zh-CN" sz="1050" b="1" dirty="0">
                  <a:solidFill>
                    <a:srgbClr val="262220"/>
                  </a:solidFill>
                  <a:latin typeface="+mn-lt"/>
                  <a:ea typeface="+mn-ea"/>
                  <a:cs typeface="+mn-cs"/>
                </a:rPr>
                <a:t>精准陷印（Trapping）考量：</a:t>
              </a:r>
            </a:p>
            <a:p>
              <a:pPr algn="l">
                <a:lnSpc>
                  <a:spcPts val="1500"/>
                </a:lnSpc>
                <a:spcBef>
                  <a:spcPts val="150"/>
                </a:spcBef>
              </a:pPr>
              <a:r>
                <a:rPr lang="zh-CN" sz="1050" dirty="0">
                  <a:solidFill>
                    <a:srgbClr val="4A4541"/>
                  </a:solidFill>
                  <a:latin typeface="+mn-lt"/>
                  <a:ea typeface="+mn-ea"/>
                  <a:cs typeface="+mn-cs"/>
                </a:rPr>
                <a:t>交接处设扩边叠印，有效抵消多色</a:t>
              </a:r>
              <a:br/>
              <a:r>
                <a:rPr lang="zh-CN" sz="1050" dirty="0">
                  <a:solidFill>
                    <a:srgbClr val="4A4541"/>
                  </a:solidFill>
                  <a:latin typeface="+mn-lt"/>
                  <a:ea typeface="+mn-ea"/>
                  <a:cs typeface="+mn-cs"/>
                </a:rPr>
                <a:t>套印机械公差导致的漏白缺陷。</a:t>
              </a:r>
            </a:p>
          </p:txBody>
        </p:sp>
      </p:grpSp>
      <p:grpSp>
        <p:nvGrpSpPr>
          <p:cNvPr id="21" name="p12-card-3"/>
          <p:cNvGrpSpPr/>
          <p:nvPr/>
        </p:nvGrpSpPr>
        <p:grpSpPr>
          <a:xfrm>
            <a:off x="8143875" y="1381125"/>
            <a:ext cx="3476625" cy="4048125"/>
            <a:chOff x="8143875" y="1381125"/>
            <a:chExt cx="3476625" cy="4048125"/>
          </a:xfrm>
        </p:grpSpPr>
        <p:sp>
          <p:nvSpPr>
            <p:cNvPr id="17" name="Rectangle 17"/>
            <p:cNvSpPr/>
            <p:nvPr/>
          </p:nvSpPr>
          <p:spPr>
            <a:xfrm>
              <a:off x="8143875" y="1381125"/>
              <a:ext cx="3476625" cy="4048125"/>
            </a:xfrm>
            <a:prstGeom prst="roundRect">
              <a:avLst>
                <a:gd name="adj" fmla="val 2192"/>
              </a:avLst>
            </a:prstGeom>
            <a:solidFill>
              <a:srgbClr val="FFFFFF"/>
            </a:solidFill>
            <a:ln w="9525">
              <a:solidFill>
                <a:srgbClr val="E8E2D8"/>
              </a:solidFill>
            </a:ln>
          </p:spPr>
        </p:sp>
        <p:sp>
          <p:nvSpPr>
            <p:cNvPr id="18" name="Rectangle 18"/>
            <p:cNvSpPr/>
            <p:nvPr/>
          </p:nvSpPr>
          <p:spPr>
            <a:xfrm>
              <a:off x="8143875" y="1381125"/>
              <a:ext cx="3476625" cy="457200"/>
            </a:xfrm>
            <a:prstGeom prst="roundRect">
              <a:avLst>
                <a:gd name="adj" fmla="val 16667"/>
              </a:avLst>
            </a:prstGeom>
            <a:solidFill>
              <a:srgbClr val="F3EEE6"/>
            </a:solidFill>
            <a:ln>
              <a:noFill/>
            </a:ln>
          </p:spPr>
        </p:sp>
        <p:sp>
          <p:nvSpPr>
            <p:cNvPr id="19" name="TextBox 19"/>
            <p:cNvSpPr txBox="1"/>
            <p:nvPr/>
          </p:nvSpPr>
          <p:spPr>
            <a:xfrm>
              <a:off x="8327898" y="1529239"/>
              <a:ext cx="1944159" cy="249364"/>
            </a:xfrm>
            <a:prstGeom prst="rect">
              <a:avLst/>
            </a:prstGeom>
            <a:noFill/>
            <a:ln>
              <a:noFill/>
            </a:ln>
          </p:spPr>
          <p:txBody>
            <a:bodyPr wrap="none" lIns="0" tIns="0" rIns="0" bIns="0" anchor="t" anchorCtr="0">
              <a:spAutoFit/>
            </a:bodyPr>
            <a:lstStyle/>
            <a:p>
              <a:pPr algn="l"/>
              <a:r>
                <a:rPr lang="zh-CN" sz="1280" b="1" dirty="0">
                  <a:solidFill>
                    <a:srgbClr val="C4892B"/>
                  </a:solidFill>
                  <a:latin typeface="+mn-lt"/>
                  <a:ea typeface="+mn-ea"/>
                  <a:cs typeface="+mn-cs"/>
                </a:rPr>
                <a:t>三 · 严格控色与成本平衡</a:t>
              </a:r>
            </a:p>
          </p:txBody>
        </p:sp>
        <p:sp>
          <p:nvSpPr>
            <p:cNvPr id="20" name="TextBox 20"/>
            <p:cNvSpPr txBox="1"/>
            <p:nvPr/>
          </p:nvSpPr>
          <p:spPr>
            <a:xfrm>
              <a:off x="8329041" y="2001202"/>
              <a:ext cx="206425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限定专色体系设计：</a:t>
              </a:r>
            </a:p>
            <a:p>
              <a:pPr algn="l">
                <a:lnSpc>
                  <a:spcPts val="1500"/>
                </a:lnSpc>
                <a:spcBef>
                  <a:spcPts val="150"/>
                </a:spcBef>
              </a:pPr>
              <a:r>
                <a:rPr lang="zh-CN" sz="1050" dirty="0">
                  <a:solidFill>
                    <a:srgbClr val="4A4541"/>
                  </a:solidFill>
                  <a:latin typeface="+mn-lt"/>
                  <a:ea typeface="+mn-ea"/>
                  <a:cs typeface="+mn-cs"/>
                </a:rPr>
                <a:t>单幅作品颜色精简在 4~5 色以内，</a:t>
              </a:r>
              <a:br/>
              <a:r>
                <a:rPr lang="zh-CN" sz="1050" dirty="0">
                  <a:solidFill>
                    <a:srgbClr val="4A4541"/>
                  </a:solidFill>
                  <a:latin typeface="+mn-lt"/>
                  <a:ea typeface="+mn-ea"/>
                  <a:cs typeface="+mn-cs"/>
                </a:rPr>
                <a:t>绝不无谓堆砌色位，秩序严明。</a:t>
              </a:r>
            </a:p>
            <a:p>
              <a:pPr algn="l">
                <a:lnSpc>
                  <a:spcPts val="1500"/>
                </a:lnSpc>
                <a:spcBef>
                  <a:spcPts val="600"/>
                </a:spcBef>
              </a:pPr>
              <a:r>
                <a:rPr lang="zh-CN" sz="1050" b="1" dirty="0">
                  <a:solidFill>
                    <a:srgbClr val="262220"/>
                  </a:solidFill>
                  <a:latin typeface="+mn-lt"/>
                  <a:ea typeface="+mn-ea"/>
                  <a:cs typeface="+mn-cs"/>
                </a:rPr>
                <a:t>兼顾经济性与艺术效果：</a:t>
              </a:r>
            </a:p>
            <a:p>
              <a:pPr algn="l" marL="113348" indent="-113348">
                <a:lnSpc>
                  <a:spcPts val="1500"/>
                </a:lnSpc>
                <a:spcBef>
                  <a:spcPts val="150"/>
                </a:spcBef>
                <a:buClr>
                  <a:srgbClr val="4A4541"/>
                </a:buClr>
                <a:buSzTx/>
                <a:buFontTx/>
                <a:buChar char="●"/>
              </a:pPr>
              <a:r>
                <a:rPr lang="zh-CN" sz="1050" dirty="0">
                  <a:solidFill>
                    <a:srgbClr val="4A4541"/>
                  </a:solidFill>
                  <a:latin typeface="+mn-lt"/>
                  <a:ea typeface="+mn-ea"/>
                  <a:cs typeface="+mn-cs"/>
                </a:rPr>
                <a:t>丝网印刷：控制在4个套色版以内</a:t>
              </a:r>
              <a:br/>
              <a:r>
                <a:rPr lang="zh-CN" sz="1050" dirty="0">
                  <a:solidFill>
                    <a:srgbClr val="4A4541"/>
                  </a:solidFill>
                  <a:latin typeface="+mn-lt"/>
                  <a:ea typeface="+mn-ea"/>
                  <a:cs typeface="+mn-cs"/>
                </a:rPr>
                <a:t>● 胶印印刷：支持标准CMYK及专色</a:t>
              </a:r>
            </a:p>
            <a:p>
              <a:pPr algn="l">
                <a:lnSpc>
                  <a:spcPts val="1500"/>
                </a:lnSpc>
                <a:spcBef>
                  <a:spcPts val="600"/>
                </a:spcBef>
              </a:pPr>
              <a:r>
                <a:rPr lang="zh-CN" sz="1050" b="1" dirty="0">
                  <a:solidFill>
                    <a:srgbClr val="262220"/>
                  </a:solidFill>
                  <a:latin typeface="+mn-lt"/>
                  <a:ea typeface="+mn-ea"/>
                  <a:cs typeface="+mn-cs"/>
                </a:rPr>
                <a:t>文创落地适应广：</a:t>
              </a:r>
            </a:p>
            <a:p>
              <a:pPr algn="l">
                <a:lnSpc>
                  <a:spcPts val="1500"/>
                </a:lnSpc>
                <a:spcBef>
                  <a:spcPts val="150"/>
                </a:spcBef>
              </a:pPr>
              <a:r>
                <a:rPr lang="zh-CN" sz="1050" dirty="0">
                  <a:solidFill>
                    <a:srgbClr val="4A4541"/>
                  </a:solidFill>
                  <a:latin typeface="+mn-lt"/>
                  <a:ea typeface="+mn-ea"/>
                  <a:cs typeface="+mn-cs"/>
                </a:rPr>
                <a:t>在棉纸、卡纸、布料等不同吸收性</a:t>
              </a:r>
              <a:br/>
              <a:r>
                <a:rPr lang="zh-CN" sz="1050" dirty="0">
                  <a:solidFill>
                    <a:srgbClr val="4A4541"/>
                  </a:solidFill>
                  <a:latin typeface="+mn-lt"/>
                  <a:ea typeface="+mn-ea"/>
                  <a:cs typeface="+mn-cs"/>
                </a:rPr>
                <a:t>载体上皆能保持稳定优异的显色。</a:t>
              </a:r>
            </a:p>
          </p:txBody>
        </p:sp>
      </p:grpSp>
      <p:grpSp>
        <p:nvGrpSpPr>
          <p:cNvPr id="26" name="p12-bottom-box"/>
          <p:cNvGrpSpPr/>
          <p:nvPr/>
        </p:nvGrpSpPr>
        <p:grpSpPr>
          <a:xfrm>
            <a:off x="571500" y="5572125"/>
            <a:ext cx="11049000" cy="762000"/>
            <a:chOff x="571500" y="5572125"/>
            <a:chExt cx="11049000" cy="762000"/>
          </a:xfrm>
        </p:grpSpPr>
        <p:sp>
          <p:nvSpPr>
            <p:cNvPr id="22" name="Rectangle 22"/>
            <p:cNvSpPr/>
            <p:nvPr/>
          </p:nvSpPr>
          <p:spPr>
            <a:xfrm>
              <a:off x="571500" y="5572125"/>
              <a:ext cx="11049000" cy="762000"/>
            </a:xfrm>
            <a:prstGeom prst="roundRect">
              <a:avLst>
                <a:gd name="adj" fmla="val 10000"/>
              </a:avLst>
            </a:prstGeom>
            <a:solidFill>
              <a:srgbClr val="F3EEE6"/>
            </a:solidFill>
            <a:ln w="9525">
              <a:solidFill>
                <a:srgbClr val="D8CDBF"/>
              </a:solidFill>
            </a:ln>
          </p:spPr>
        </p:sp>
        <p:sp>
          <p:nvSpPr>
            <p:cNvPr id="23" name="TextBox 23"/>
            <p:cNvSpPr txBox="1"/>
            <p:nvPr/>
          </p:nvSpPr>
          <p:spPr>
            <a:xfrm>
              <a:off x="851154" y="5795010"/>
              <a:ext cx="1143000" cy="234696"/>
            </a:xfrm>
            <a:prstGeom prst="rect">
              <a:avLst/>
            </a:prstGeom>
            <a:noFill/>
            <a:ln>
              <a:noFill/>
            </a:ln>
          </p:spPr>
          <p:txBody>
            <a:bodyPr wrap="none" lIns="0" tIns="0" rIns="0" bIns="0" anchor="t" anchorCtr="0">
              <a:spAutoFit/>
            </a:bodyPr>
            <a:lstStyle/>
            <a:p>
              <a:pPr algn="l"/>
              <a:r>
                <a:rPr lang="zh-CN" sz="1200" b="1" dirty="0">
                  <a:solidFill>
                    <a:srgbClr val="B83A2E"/>
                  </a:solidFill>
                  <a:latin typeface="+mn-lt"/>
                  <a:ea typeface="+mn-ea"/>
                  <a:cs typeface="+mn-cs"/>
                </a:rPr>
                <a:t>工艺适配总结：</a:t>
              </a:r>
            </a:p>
          </p:txBody>
        </p:sp>
        <p:sp>
          <p:nvSpPr>
            <p:cNvPr id="24" name="TextBox 24"/>
            <p:cNvSpPr txBox="1"/>
            <p:nvPr/>
          </p:nvSpPr>
          <p:spPr>
            <a:xfrm>
              <a:off x="1994535" y="5803106"/>
              <a:ext cx="7482302" cy="220028"/>
            </a:xfrm>
            <a:prstGeom prst="rect">
              <a:avLst/>
            </a:prstGeom>
            <a:noFill/>
            <a:ln>
              <a:noFill/>
            </a:ln>
          </p:spPr>
          <p:txBody>
            <a:bodyPr wrap="none" lIns="0" tIns="0" rIns="0" bIns="0" anchor="t" anchorCtr="0">
              <a:spAutoFit/>
            </a:bodyPr>
            <a:lstStyle/>
            <a:p>
              <a:pPr algn="l"/>
              <a:r>
                <a:rPr lang="zh-CN" sz="1120" dirty="0">
                  <a:solidFill>
                    <a:srgbClr val="4A4541"/>
                  </a:solidFill>
                  <a:latin typeface="+mn-lt"/>
                  <a:ea typeface="+mn-ea"/>
                  <a:cs typeface="+mn-cs"/>
                </a:rPr>
                <a:t>整套纹样实现了从手工丝线到工业油墨的无缝过渡，完美契合丝网印刷（特种纸/织物）、平版胶印及数码打样。</a:t>
              </a:r>
            </a:p>
          </p:txBody>
        </p:sp>
        <p:sp>
          <p:nvSpPr>
            <p:cNvPr id="25" name="TextBox 25"/>
            <p:cNvSpPr txBox="1"/>
            <p:nvPr/>
          </p:nvSpPr>
          <p:spPr>
            <a:xfrm>
              <a:off x="1995297" y="6066949"/>
              <a:ext cx="6076215" cy="190690"/>
            </a:xfrm>
            <a:prstGeom prst="rect">
              <a:avLst/>
            </a:prstGeom>
            <a:noFill/>
            <a:ln>
              <a:noFill/>
            </a:ln>
          </p:spPr>
          <p:txBody>
            <a:bodyPr wrap="none" lIns="0" tIns="0" rIns="0" bIns="0" anchor="t" anchorCtr="0">
              <a:spAutoFit/>
            </a:bodyPr>
            <a:lstStyle/>
            <a:p>
              <a:pPr algn="l"/>
              <a:r>
                <a:rPr lang="en-US" sz="980" dirty="0">
                  <a:solidFill>
                    <a:srgbClr val="7D766F"/>
                  </a:solidFill>
                  <a:latin typeface="+mn-lt"/>
                  <a:ea typeface="+mn-ea"/>
                  <a:cs typeface="+mn-cs"/>
                </a:rPr>
                <a:t>Technically verified for screen printing, offset lithography, and digital short-run production</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grpSp>
        <p:nvGrpSpPr>
          <p:cNvPr id="6" name="p13-header"/>
          <p:cNvGrpSpPr/>
          <p:nvPr/>
        </p:nvGrpSpPr>
        <p:grpSpPr>
          <a:xfrm>
            <a:off x="560832" y="601028"/>
            <a:ext cx="11059668" cy="649795"/>
            <a:chOff x="560832" y="601028"/>
            <a:chExt cx="11059668" cy="649795"/>
          </a:xfrm>
        </p:grpSpPr>
        <p:sp>
          <p:nvSpPr>
            <p:cNvPr id="3" name="TextBox 3"/>
            <p:cNvSpPr txBox="1"/>
            <p:nvPr/>
          </p:nvSpPr>
          <p:spPr>
            <a:xfrm>
              <a:off x="566166" y="601028"/>
              <a:ext cx="1550049" cy="205359"/>
            </a:xfrm>
            <a:prstGeom prst="rect">
              <a:avLst/>
            </a:prstGeom>
            <a:noFill/>
            <a:ln>
              <a:noFill/>
            </a:ln>
          </p:spPr>
          <p:txBody>
            <a:bodyPr wrap="none" lIns="0" tIns="0" rIns="0" bIns="0" anchor="t" anchorCtr="0">
              <a:spAutoFit/>
            </a:bodyPr>
            <a:lstStyle/>
            <a:p>
              <a:pPr algn="l"/>
              <a:r>
                <a:rPr lang="zh-CN" sz="1050" b="1" spc="150" dirty="0">
                  <a:solidFill>
                    <a:srgbClr val="B83A2E"/>
                  </a:solidFill>
                  <a:latin typeface="+mn-lt"/>
                  <a:ea typeface="+mn-ea"/>
                  <a:cs typeface="+mn-cs"/>
                </a:rPr>
                <a:t>06 收获、不足与展望</a:t>
              </a:r>
            </a:p>
          </p:txBody>
        </p:sp>
        <p:sp>
          <p:nvSpPr>
            <p:cNvPr id="4" name="TextBox 4"/>
            <p:cNvSpPr txBox="1"/>
            <p:nvPr/>
          </p:nvSpPr>
          <p:spPr>
            <a:xfrm>
              <a:off x="560832" y="840105"/>
              <a:ext cx="3696462" cy="410718"/>
            </a:xfrm>
            <a:prstGeom prst="rect">
              <a:avLst/>
            </a:prstGeom>
            <a:noFill/>
            <a:ln>
              <a:noFill/>
            </a:ln>
          </p:spPr>
          <p:txBody>
            <a:bodyPr wrap="none" lIns="0" tIns="0" rIns="0" bIns="0" anchor="t" anchorCtr="0">
              <a:spAutoFit/>
            </a:bodyPr>
            <a:lstStyle/>
            <a:p>
              <a:pPr algn="l"/>
              <a:r>
                <a:rPr lang="zh-CN" sz="2100" b="1" dirty="0">
                  <a:solidFill>
                    <a:srgbClr val="262220"/>
                  </a:solidFill>
                  <a:latin typeface="+mn-lt"/>
                  <a:ea typeface="+mn-ea"/>
                  <a:cs typeface="+mn-cs"/>
                </a:rPr>
                <a:t>课程设计总结与未来演进方向</a:t>
              </a:r>
            </a:p>
          </p:txBody>
        </p:sp>
        <p:sp>
          <p:nvSpPr>
            <p:cNvPr id="5" name="Line 5"/>
            <p:cNvSpPr/>
            <p:nvPr/>
          </p:nvSpPr>
          <p:spPr>
            <a:xfrm>
              <a:off x="571500" y="1219200"/>
              <a:ext cx="11049000" cy="9525"/>
            </a:xfrm>
            <a:custGeom>
              <a:avLst/>
              <a:gdLst/>
              <a:ahLst/>
              <a:cxnLst/>
              <a:rect l="l" t="t" r="r" b="b"/>
              <a:pathLst>
                <a:path w="11049000" h="9525">
                  <a:moveTo>
                    <a:pt x="0" y="0"/>
                  </a:moveTo>
                  <a:lnTo>
                    <a:pt x="11049000" y="0"/>
                  </a:lnTo>
                </a:path>
              </a:pathLst>
            </a:custGeom>
            <a:noFill/>
            <a:ln w="9525">
              <a:solidFill>
                <a:srgbClr val="E2D9CC"/>
              </a:solidFill>
            </a:ln>
          </p:spPr>
        </p:sp>
      </p:grpSp>
      <p:grpSp>
        <p:nvGrpSpPr>
          <p:cNvPr id="11" name="p13-card-1"/>
          <p:cNvGrpSpPr/>
          <p:nvPr/>
        </p:nvGrpSpPr>
        <p:grpSpPr>
          <a:xfrm>
            <a:off x="571500" y="1381125"/>
            <a:ext cx="3476625" cy="4048125"/>
            <a:chOff x="571500" y="1381125"/>
            <a:chExt cx="3476625" cy="4048125"/>
          </a:xfrm>
        </p:grpSpPr>
        <p:sp>
          <p:nvSpPr>
            <p:cNvPr id="7" name="Rectangle 7"/>
            <p:cNvSpPr/>
            <p:nvPr/>
          </p:nvSpPr>
          <p:spPr>
            <a:xfrm>
              <a:off x="571500" y="1381125"/>
              <a:ext cx="3476625" cy="4048125"/>
            </a:xfrm>
            <a:prstGeom prst="roundRect">
              <a:avLst>
                <a:gd name="adj" fmla="val 2192"/>
              </a:avLst>
            </a:prstGeom>
            <a:solidFill>
              <a:srgbClr val="FFFFFF"/>
            </a:solidFill>
            <a:ln w="9525">
              <a:solidFill>
                <a:srgbClr val="E8E2D8"/>
              </a:solidFill>
            </a:ln>
          </p:spPr>
        </p:sp>
        <p:sp>
          <p:nvSpPr>
            <p:cNvPr id="8" name="Rectangle 8"/>
            <p:cNvSpPr/>
            <p:nvPr/>
          </p:nvSpPr>
          <p:spPr>
            <a:xfrm>
              <a:off x="571500" y="1381125"/>
              <a:ext cx="3476625" cy="457200"/>
            </a:xfrm>
            <a:prstGeom prst="roundRect">
              <a:avLst>
                <a:gd name="adj" fmla="val 16667"/>
              </a:avLst>
            </a:prstGeom>
            <a:solidFill>
              <a:srgbClr val="F3EEE6"/>
            </a:solidFill>
            <a:ln>
              <a:noFill/>
            </a:ln>
          </p:spPr>
        </p:sp>
        <p:sp>
          <p:nvSpPr>
            <p:cNvPr id="9" name="TextBox 9"/>
            <p:cNvSpPr txBox="1"/>
            <p:nvPr/>
          </p:nvSpPr>
          <p:spPr>
            <a:xfrm>
              <a:off x="755523" y="1529239"/>
              <a:ext cx="1082591" cy="249364"/>
            </a:xfrm>
            <a:prstGeom prst="rect">
              <a:avLst/>
            </a:prstGeom>
            <a:noFill/>
            <a:ln>
              <a:noFill/>
            </a:ln>
          </p:spPr>
          <p:txBody>
            <a:bodyPr wrap="none" lIns="0" tIns="0" rIns="0" bIns="0" anchor="t" anchorCtr="0">
              <a:spAutoFit/>
            </a:bodyPr>
            <a:lstStyle/>
            <a:p>
              <a:pPr algn="l"/>
              <a:r>
                <a:rPr lang="zh-CN" sz="1280" b="1" dirty="0">
                  <a:solidFill>
                    <a:srgbClr val="4A7C59"/>
                  </a:solidFill>
                  <a:latin typeface="+mn-lt"/>
                  <a:ea typeface="+mn-ea"/>
                  <a:cs typeface="+mn-cs"/>
                </a:rPr>
                <a:t>一 · 核心收获</a:t>
              </a:r>
            </a:p>
          </p:txBody>
        </p:sp>
        <p:sp>
          <p:nvSpPr>
            <p:cNvPr id="10" name="TextBox 10"/>
            <p:cNvSpPr txBox="1"/>
            <p:nvPr/>
          </p:nvSpPr>
          <p:spPr>
            <a:xfrm>
              <a:off x="756666" y="2001202"/>
              <a:ext cx="227761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工艺反推设计的真实体悟：</a:t>
              </a:r>
            </a:p>
            <a:p>
              <a:pPr algn="l">
                <a:lnSpc>
                  <a:spcPts val="1500"/>
                </a:lnSpc>
                <a:spcBef>
                  <a:spcPts val="150"/>
                </a:spcBef>
              </a:pPr>
              <a:r>
                <a:rPr lang="zh-CN" sz="1050" dirty="0">
                  <a:solidFill>
                    <a:srgbClr val="4A4541"/>
                  </a:solidFill>
                  <a:latin typeface="+mn-lt"/>
                  <a:ea typeface="+mn-ea"/>
                  <a:cs typeface="+mn-cs"/>
                </a:rPr>
                <a:t>深刻理解印刷工艺非被动代工，</a:t>
              </a:r>
              <a:br/>
              <a:r>
                <a:rPr lang="zh-CN" sz="1050" dirty="0">
                  <a:solidFill>
                    <a:srgbClr val="4A4541"/>
                  </a:solidFill>
                  <a:latin typeface="+mn-lt"/>
                  <a:ea typeface="+mn-ea"/>
                  <a:cs typeface="+mn-cs"/>
                </a:rPr>
                <a:t>而是从源头规范图形取舍的核心法则。</a:t>
              </a:r>
            </a:p>
            <a:p>
              <a:pPr algn="l">
                <a:lnSpc>
                  <a:spcPts val="1500"/>
                </a:lnSpc>
                <a:spcBef>
                  <a:spcPts val="600"/>
                </a:spcBef>
              </a:pPr>
              <a:r>
                <a:rPr lang="zh-CN" sz="1050" b="1" dirty="0">
                  <a:solidFill>
                    <a:srgbClr val="262220"/>
                  </a:solidFill>
                  <a:latin typeface="+mn-lt"/>
                  <a:ea typeface="+mn-ea"/>
                  <a:cs typeface="+mn-cs"/>
                </a:rPr>
                <a:t>非遗转化的方法论沉淀：</a:t>
              </a:r>
            </a:p>
            <a:p>
              <a:pPr algn="l">
                <a:lnSpc>
                  <a:spcPts val="1500"/>
                </a:lnSpc>
                <a:spcBef>
                  <a:spcPts val="150"/>
                </a:spcBef>
              </a:pPr>
              <a:r>
                <a:rPr lang="zh-CN" sz="1050" dirty="0">
                  <a:solidFill>
                    <a:srgbClr val="4A4541"/>
                  </a:solidFill>
                  <a:latin typeface="+mn-lt"/>
                  <a:ea typeface="+mn-ea"/>
                  <a:cs typeface="+mn-cs"/>
                </a:rPr>
                <a:t>掌握从传统刺绣中提炼几何骨骼、</a:t>
              </a:r>
              <a:br/>
              <a:r>
                <a:rPr lang="zh-CN" sz="1050" dirty="0">
                  <a:solidFill>
                    <a:srgbClr val="4A4541"/>
                  </a:solidFill>
                  <a:latin typeface="+mn-lt"/>
                  <a:ea typeface="+mn-ea"/>
                  <a:cs typeface="+mn-cs"/>
                </a:rPr>
                <a:t>概括规范矢量线条的科学工作流。</a:t>
              </a:r>
            </a:p>
            <a:p>
              <a:pPr algn="l">
                <a:lnSpc>
                  <a:spcPts val="1500"/>
                </a:lnSpc>
                <a:spcBef>
                  <a:spcPts val="600"/>
                </a:spcBef>
              </a:pPr>
              <a:r>
                <a:rPr lang="zh-CN" sz="1050" b="1" dirty="0">
                  <a:solidFill>
                    <a:srgbClr val="262220"/>
                  </a:solidFill>
                  <a:latin typeface="+mn-lt"/>
                  <a:ea typeface="+mn-ea"/>
                  <a:cs typeface="+mn-cs"/>
                </a:rPr>
                <a:t>严谨色彩秩序的建立：</a:t>
              </a:r>
            </a:p>
            <a:p>
              <a:pPr algn="l">
                <a:lnSpc>
                  <a:spcPts val="1500"/>
                </a:lnSpc>
                <a:spcBef>
                  <a:spcPts val="150"/>
                </a:spcBef>
              </a:pPr>
              <a:r>
                <a:rPr lang="zh-CN" sz="1050" dirty="0">
                  <a:solidFill>
                    <a:srgbClr val="4A4541"/>
                  </a:solidFill>
                  <a:latin typeface="+mn-lt"/>
                  <a:ea typeface="+mn-ea"/>
                  <a:cs typeface="+mn-cs"/>
                </a:rPr>
                <a:t>锻炼了在限定色位（4~5色）约束下</a:t>
              </a:r>
              <a:br/>
              <a:r>
                <a:rPr lang="zh-CN" sz="1050" dirty="0">
                  <a:solidFill>
                    <a:srgbClr val="4A4541"/>
                  </a:solidFill>
                  <a:latin typeface="+mn-lt"/>
                  <a:ea typeface="+mn-ea"/>
                  <a:cs typeface="+mn-cs"/>
                </a:rPr>
                <a:t>组织丰富层次与视觉对比的能力。</a:t>
              </a:r>
            </a:p>
          </p:txBody>
        </p:sp>
      </p:grpSp>
      <p:grpSp>
        <p:nvGrpSpPr>
          <p:cNvPr id="16" name="p13-card-2"/>
          <p:cNvGrpSpPr/>
          <p:nvPr/>
        </p:nvGrpSpPr>
        <p:grpSpPr>
          <a:xfrm>
            <a:off x="4333875" y="1381125"/>
            <a:ext cx="3524250" cy="4048125"/>
            <a:chOff x="4333875" y="1381125"/>
            <a:chExt cx="3524250" cy="4048125"/>
          </a:xfrm>
        </p:grpSpPr>
        <p:sp>
          <p:nvSpPr>
            <p:cNvPr id="12" name="Rectangle 12"/>
            <p:cNvSpPr/>
            <p:nvPr/>
          </p:nvSpPr>
          <p:spPr>
            <a:xfrm>
              <a:off x="4333875" y="1381125"/>
              <a:ext cx="3524250" cy="4048125"/>
            </a:xfrm>
            <a:prstGeom prst="roundRect">
              <a:avLst>
                <a:gd name="adj" fmla="val 2162"/>
              </a:avLst>
            </a:prstGeom>
            <a:solidFill>
              <a:srgbClr val="FFFFFF"/>
            </a:solidFill>
            <a:ln w="9525">
              <a:solidFill>
                <a:srgbClr val="E8E2D8"/>
              </a:solidFill>
            </a:ln>
          </p:spPr>
        </p:sp>
        <p:sp>
          <p:nvSpPr>
            <p:cNvPr id="13" name="Rectangle 13"/>
            <p:cNvSpPr/>
            <p:nvPr/>
          </p:nvSpPr>
          <p:spPr>
            <a:xfrm>
              <a:off x="4333875" y="1381125"/>
              <a:ext cx="3524250" cy="457200"/>
            </a:xfrm>
            <a:prstGeom prst="roundRect">
              <a:avLst>
                <a:gd name="adj" fmla="val 16667"/>
              </a:avLst>
            </a:prstGeom>
            <a:solidFill>
              <a:srgbClr val="F3EEE6"/>
            </a:solidFill>
            <a:ln>
              <a:noFill/>
            </a:ln>
          </p:spPr>
        </p:sp>
        <p:sp>
          <p:nvSpPr>
            <p:cNvPr id="14" name="TextBox 14"/>
            <p:cNvSpPr txBox="1"/>
            <p:nvPr/>
          </p:nvSpPr>
          <p:spPr>
            <a:xfrm>
              <a:off x="4517898" y="1529239"/>
              <a:ext cx="1599531" cy="249364"/>
            </a:xfrm>
            <a:prstGeom prst="rect">
              <a:avLst/>
            </a:prstGeom>
            <a:noFill/>
            <a:ln>
              <a:noFill/>
            </a:ln>
          </p:spPr>
          <p:txBody>
            <a:bodyPr wrap="none" lIns="0" tIns="0" rIns="0" bIns="0" anchor="t" anchorCtr="0">
              <a:spAutoFit/>
            </a:bodyPr>
            <a:lstStyle/>
            <a:p>
              <a:pPr algn="l"/>
              <a:r>
                <a:rPr lang="zh-CN" sz="1280" b="1" dirty="0">
                  <a:solidFill>
                    <a:srgbClr val="B83A2E"/>
                  </a:solidFill>
                  <a:latin typeface="+mn-lt"/>
                  <a:ea typeface="+mn-ea"/>
                  <a:cs typeface="+mn-cs"/>
                </a:rPr>
                <a:t>二 · 现存不足与反思</a:t>
              </a:r>
            </a:p>
          </p:txBody>
        </p:sp>
        <p:sp>
          <p:nvSpPr>
            <p:cNvPr id="15" name="TextBox 15"/>
            <p:cNvSpPr txBox="1"/>
            <p:nvPr/>
          </p:nvSpPr>
          <p:spPr>
            <a:xfrm>
              <a:off x="4519041" y="2001202"/>
              <a:ext cx="227761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局部细节依然偏密：</a:t>
              </a:r>
            </a:p>
            <a:p>
              <a:pPr algn="l">
                <a:lnSpc>
                  <a:spcPts val="1500"/>
                </a:lnSpc>
                <a:spcBef>
                  <a:spcPts val="150"/>
                </a:spcBef>
              </a:pPr>
              <a:r>
                <a:rPr lang="zh-CN" sz="1050" dirty="0">
                  <a:solidFill>
                    <a:srgbClr val="4A4541"/>
                  </a:solidFill>
                  <a:latin typeface="+mn-lt"/>
                  <a:ea typeface="+mn-ea"/>
                  <a:cs typeface="+mn-cs"/>
                </a:rPr>
                <a:t>在部分团花作品中，内部卷云穿插</a:t>
              </a:r>
              <a:br/>
              <a:r>
                <a:rPr lang="zh-CN" sz="1050" dirty="0">
                  <a:solidFill>
                    <a:srgbClr val="4A4541"/>
                  </a:solidFill>
                  <a:latin typeface="+mn-lt"/>
                  <a:ea typeface="+mn-ea"/>
                  <a:cs typeface="+mn-cs"/>
                </a:rPr>
                <a:t>仍偏细密，极小尺寸印刷有堵墨风险。</a:t>
              </a:r>
            </a:p>
            <a:p>
              <a:pPr algn="l">
                <a:lnSpc>
                  <a:spcPts val="1500"/>
                </a:lnSpc>
                <a:spcBef>
                  <a:spcPts val="600"/>
                </a:spcBef>
              </a:pPr>
              <a:r>
                <a:rPr lang="zh-CN" sz="1050" b="1" dirty="0">
                  <a:solidFill>
                    <a:srgbClr val="262220"/>
                  </a:solidFill>
                  <a:latin typeface="+mn-lt"/>
                  <a:ea typeface="+mn-ea"/>
                  <a:cs typeface="+mn-cs"/>
                </a:rPr>
                <a:t>实操打样验证不足：</a:t>
              </a:r>
            </a:p>
            <a:p>
              <a:pPr algn="l">
                <a:lnSpc>
                  <a:spcPts val="1500"/>
                </a:lnSpc>
                <a:spcBef>
                  <a:spcPts val="150"/>
                </a:spcBef>
              </a:pPr>
              <a:r>
                <a:rPr lang="zh-CN" sz="1050" dirty="0">
                  <a:solidFill>
                    <a:srgbClr val="4A4541"/>
                  </a:solidFill>
                  <a:latin typeface="+mn-lt"/>
                  <a:ea typeface="+mn-ea"/>
                  <a:cs typeface="+mn-cs"/>
                </a:rPr>
                <a:t>目前主要完成数字矢量与数码打样，</a:t>
              </a:r>
              <a:br/>
              <a:r>
                <a:rPr lang="zh-CN" sz="1050" dirty="0">
                  <a:solidFill>
                    <a:srgbClr val="4A4541"/>
                  </a:solidFill>
                  <a:latin typeface="+mn-lt"/>
                  <a:ea typeface="+mn-ea"/>
                  <a:cs typeface="+mn-cs"/>
                </a:rPr>
                <a:t>尚未进行大批量丝网与特种工艺试印。</a:t>
              </a:r>
            </a:p>
            <a:p>
              <a:pPr algn="l">
                <a:lnSpc>
                  <a:spcPts val="1500"/>
                </a:lnSpc>
                <a:spcBef>
                  <a:spcPts val="600"/>
                </a:spcBef>
              </a:pPr>
              <a:r>
                <a:rPr lang="zh-CN" sz="1050" b="1" dirty="0">
                  <a:solidFill>
                    <a:srgbClr val="262220"/>
                  </a:solidFill>
                  <a:latin typeface="+mn-lt"/>
                  <a:ea typeface="+mn-ea"/>
                  <a:cs typeface="+mn-cs"/>
                </a:rPr>
                <a:t>后续精简方向：</a:t>
              </a:r>
            </a:p>
            <a:p>
              <a:pPr algn="l">
                <a:lnSpc>
                  <a:spcPts val="1500"/>
                </a:lnSpc>
                <a:spcBef>
                  <a:spcPts val="150"/>
                </a:spcBef>
              </a:pPr>
              <a:r>
                <a:rPr lang="zh-CN" sz="1050" dirty="0">
                  <a:solidFill>
                    <a:srgbClr val="4A4541"/>
                  </a:solidFill>
                  <a:latin typeface="+mn-lt"/>
                  <a:ea typeface="+mn-ea"/>
                  <a:cs typeface="+mn-cs"/>
                </a:rPr>
                <a:t>量产前针对微小部件进行进一步</a:t>
              </a:r>
              <a:br/>
              <a:r>
                <a:rPr lang="zh-CN" sz="1050" dirty="0">
                  <a:solidFill>
                    <a:srgbClr val="4A4541"/>
                  </a:solidFill>
                  <a:latin typeface="+mn-lt"/>
                  <a:ea typeface="+mn-ea"/>
                  <a:cs typeface="+mn-cs"/>
                </a:rPr>
                <a:t>结构“做减法”，提高印刷容错率。</a:t>
              </a:r>
            </a:p>
          </p:txBody>
        </p:sp>
      </p:grpSp>
      <p:grpSp>
        <p:nvGrpSpPr>
          <p:cNvPr id="21" name="p13-card-3"/>
          <p:cNvGrpSpPr/>
          <p:nvPr/>
        </p:nvGrpSpPr>
        <p:grpSpPr>
          <a:xfrm>
            <a:off x="8143875" y="1381125"/>
            <a:ext cx="3476625" cy="4048125"/>
            <a:chOff x="8143875" y="1381125"/>
            <a:chExt cx="3476625" cy="4048125"/>
          </a:xfrm>
        </p:grpSpPr>
        <p:sp>
          <p:nvSpPr>
            <p:cNvPr id="17" name="Rectangle 17"/>
            <p:cNvSpPr/>
            <p:nvPr/>
          </p:nvSpPr>
          <p:spPr>
            <a:xfrm>
              <a:off x="8143875" y="1381125"/>
              <a:ext cx="3476625" cy="4048125"/>
            </a:xfrm>
            <a:prstGeom prst="roundRect">
              <a:avLst>
                <a:gd name="adj" fmla="val 2192"/>
              </a:avLst>
            </a:prstGeom>
            <a:solidFill>
              <a:srgbClr val="FFFFFF"/>
            </a:solidFill>
            <a:ln w="9525">
              <a:solidFill>
                <a:srgbClr val="E8E2D8"/>
              </a:solidFill>
            </a:ln>
          </p:spPr>
        </p:sp>
        <p:sp>
          <p:nvSpPr>
            <p:cNvPr id="18" name="Rectangle 18"/>
            <p:cNvSpPr/>
            <p:nvPr/>
          </p:nvSpPr>
          <p:spPr>
            <a:xfrm>
              <a:off x="8143875" y="1381125"/>
              <a:ext cx="3476625" cy="457200"/>
            </a:xfrm>
            <a:prstGeom prst="roundRect">
              <a:avLst>
                <a:gd name="adj" fmla="val 16667"/>
              </a:avLst>
            </a:prstGeom>
            <a:solidFill>
              <a:srgbClr val="F3EEE6"/>
            </a:solidFill>
            <a:ln>
              <a:noFill/>
            </a:ln>
          </p:spPr>
        </p:sp>
        <p:sp>
          <p:nvSpPr>
            <p:cNvPr id="19" name="TextBox 19"/>
            <p:cNvSpPr txBox="1"/>
            <p:nvPr/>
          </p:nvSpPr>
          <p:spPr>
            <a:xfrm>
              <a:off x="8327898" y="1529239"/>
              <a:ext cx="1427218" cy="249364"/>
            </a:xfrm>
            <a:prstGeom prst="rect">
              <a:avLst/>
            </a:prstGeom>
            <a:noFill/>
            <a:ln>
              <a:noFill/>
            </a:ln>
          </p:spPr>
          <p:txBody>
            <a:bodyPr wrap="none" lIns="0" tIns="0" rIns="0" bIns="0" anchor="t" anchorCtr="0">
              <a:spAutoFit/>
            </a:bodyPr>
            <a:lstStyle/>
            <a:p>
              <a:pPr algn="l"/>
              <a:r>
                <a:rPr lang="zh-CN" sz="1280" b="1" dirty="0">
                  <a:solidFill>
                    <a:srgbClr val="2B5F75"/>
                  </a:solidFill>
                  <a:latin typeface="+mn-lt"/>
                  <a:ea typeface="+mn-ea"/>
                  <a:cs typeface="+mn-cs"/>
                </a:rPr>
                <a:t>三 · 未来演进展望</a:t>
              </a:r>
            </a:p>
          </p:txBody>
        </p:sp>
        <p:sp>
          <p:nvSpPr>
            <p:cNvPr id="20" name="TextBox 20"/>
            <p:cNvSpPr txBox="1"/>
            <p:nvPr/>
          </p:nvSpPr>
          <p:spPr>
            <a:xfrm>
              <a:off x="8329041" y="2001202"/>
              <a:ext cx="2010918" cy="1938909"/>
            </a:xfrm>
            <a:prstGeom prst="rect">
              <a:avLst/>
            </a:prstGeom>
            <a:noFill/>
            <a:ln>
              <a:noFill/>
            </a:ln>
          </p:spPr>
          <p:txBody>
            <a:bodyPr wrap="none" lIns="0" tIns="0" rIns="0" bIns="0" anchor="t" anchorCtr="0">
              <a:spAutoFit/>
            </a:bodyPr>
            <a:lstStyle/>
            <a:p>
              <a:pPr algn="l">
                <a:lnSpc>
                  <a:spcPts val="1500"/>
                </a:lnSpc>
              </a:pPr>
              <a:r>
                <a:rPr lang="zh-CN" sz="1050" b="1" dirty="0">
                  <a:solidFill>
                    <a:srgbClr val="262220"/>
                  </a:solidFill>
                  <a:latin typeface="+mn-lt"/>
                  <a:ea typeface="+mn-ea"/>
                  <a:cs typeface="+mn-cs"/>
                </a:rPr>
                <a:t>拓展完整连续纹样库：</a:t>
              </a:r>
            </a:p>
            <a:p>
              <a:pPr algn="l">
                <a:lnSpc>
                  <a:spcPts val="1500"/>
                </a:lnSpc>
                <a:spcBef>
                  <a:spcPts val="150"/>
                </a:spcBef>
              </a:pPr>
              <a:r>
                <a:rPr lang="zh-CN" sz="1050" dirty="0">
                  <a:solidFill>
                    <a:srgbClr val="4A4541"/>
                  </a:solidFill>
                  <a:latin typeface="+mn-lt"/>
                  <a:ea typeface="+mn-ea"/>
                  <a:cs typeface="+mn-cs"/>
                </a:rPr>
                <a:t>将单体适合纹样拓展为完整的二方</a:t>
              </a:r>
              <a:br/>
              <a:r>
                <a:rPr lang="zh-CN" sz="1050" dirty="0">
                  <a:solidFill>
                    <a:srgbClr val="4A4541"/>
                  </a:solidFill>
                  <a:latin typeface="+mn-lt"/>
                  <a:ea typeface="+mn-ea"/>
                  <a:cs typeface="+mn-cs"/>
                </a:rPr>
                <a:t>连续、四方连续包装底纹系统。</a:t>
              </a:r>
            </a:p>
            <a:p>
              <a:pPr algn="l">
                <a:lnSpc>
                  <a:spcPts val="1500"/>
                </a:lnSpc>
                <a:spcBef>
                  <a:spcPts val="600"/>
                </a:spcBef>
              </a:pPr>
              <a:r>
                <a:rPr lang="zh-CN" sz="1050" b="1" dirty="0">
                  <a:solidFill>
                    <a:srgbClr val="262220"/>
                  </a:solidFill>
                  <a:latin typeface="+mn-lt"/>
                  <a:ea typeface="+mn-ea"/>
                  <a:cs typeface="+mn-cs"/>
                </a:rPr>
                <a:t>标准化专色色卡建设：</a:t>
              </a:r>
            </a:p>
            <a:p>
              <a:pPr algn="l">
                <a:lnSpc>
                  <a:spcPts val="1500"/>
                </a:lnSpc>
                <a:spcBef>
                  <a:spcPts val="150"/>
                </a:spcBef>
              </a:pPr>
              <a:r>
                <a:rPr lang="zh-CN" sz="1050" dirty="0">
                  <a:solidFill>
                    <a:srgbClr val="4A4541"/>
                  </a:solidFill>
                  <a:latin typeface="+mn-lt"/>
                  <a:ea typeface="+mn-ea"/>
                  <a:cs typeface="+mn-cs"/>
                </a:rPr>
                <a:t>建立基于宋韵文化的标准专色色值</a:t>
              </a:r>
              <a:br/>
              <a:r>
                <a:rPr lang="zh-CN" sz="1050" dirty="0">
                  <a:solidFill>
                    <a:srgbClr val="4A4541"/>
                  </a:solidFill>
                  <a:latin typeface="+mn-lt"/>
                  <a:ea typeface="+mn-ea"/>
                  <a:cs typeface="+mn-cs"/>
                </a:rPr>
                <a:t>与特种纸打样标准对照色卡。</a:t>
              </a:r>
            </a:p>
            <a:p>
              <a:pPr algn="l">
                <a:lnSpc>
                  <a:spcPts val="1500"/>
                </a:lnSpc>
                <a:spcBef>
                  <a:spcPts val="600"/>
                </a:spcBef>
              </a:pPr>
              <a:r>
                <a:rPr lang="zh-CN" sz="1050" b="1" dirty="0">
                  <a:solidFill>
                    <a:srgbClr val="262220"/>
                  </a:solidFill>
                  <a:latin typeface="+mn-lt"/>
                  <a:ea typeface="+mn-ea"/>
                  <a:cs typeface="+mn-cs"/>
                </a:rPr>
                <a:t>多维文创商业落地：</a:t>
              </a:r>
            </a:p>
            <a:p>
              <a:pPr algn="l">
                <a:lnSpc>
                  <a:spcPts val="1500"/>
                </a:lnSpc>
                <a:spcBef>
                  <a:spcPts val="150"/>
                </a:spcBef>
              </a:pPr>
              <a:r>
                <a:rPr lang="zh-CN" sz="1050" dirty="0">
                  <a:solidFill>
                    <a:srgbClr val="4A4541"/>
                  </a:solidFill>
                  <a:latin typeface="+mn-lt"/>
                  <a:ea typeface="+mn-ea"/>
                  <a:cs typeface="+mn-cs"/>
                </a:rPr>
                <a:t>推进在金属书签、真丝方巾、茶礼</a:t>
              </a:r>
              <a:br/>
              <a:r>
                <a:rPr lang="zh-CN" sz="1050" dirty="0">
                  <a:solidFill>
                    <a:srgbClr val="4A4541"/>
                  </a:solidFill>
                  <a:latin typeface="+mn-lt"/>
                  <a:ea typeface="+mn-ea"/>
                  <a:cs typeface="+mn-cs"/>
                </a:rPr>
                <a:t>等实体文创产品上的开发制作。</a:t>
              </a:r>
            </a:p>
          </p:txBody>
        </p:sp>
      </p:grpSp>
      <p:grpSp>
        <p:nvGrpSpPr>
          <p:cNvPr id="26" name="p13-bottom-box"/>
          <p:cNvGrpSpPr/>
          <p:nvPr/>
        </p:nvGrpSpPr>
        <p:grpSpPr>
          <a:xfrm>
            <a:off x="571500" y="5572125"/>
            <a:ext cx="11049000" cy="762000"/>
            <a:chOff x="571500" y="5572125"/>
            <a:chExt cx="11049000" cy="762000"/>
          </a:xfrm>
        </p:grpSpPr>
        <p:sp>
          <p:nvSpPr>
            <p:cNvPr id="22" name="Rectangle 22"/>
            <p:cNvSpPr/>
            <p:nvPr/>
          </p:nvSpPr>
          <p:spPr>
            <a:xfrm>
              <a:off x="571500" y="5572125"/>
              <a:ext cx="11049000" cy="762000"/>
            </a:xfrm>
            <a:prstGeom prst="roundRect">
              <a:avLst>
                <a:gd name="adj" fmla="val 10000"/>
              </a:avLst>
            </a:prstGeom>
            <a:solidFill>
              <a:srgbClr val="F3EEE6"/>
            </a:solidFill>
            <a:ln w="9525">
              <a:solidFill>
                <a:srgbClr val="D8CDBF"/>
              </a:solidFill>
            </a:ln>
          </p:spPr>
        </p:sp>
        <p:sp>
          <p:nvSpPr>
            <p:cNvPr id="23" name="TextBox 23"/>
            <p:cNvSpPr txBox="1"/>
            <p:nvPr/>
          </p:nvSpPr>
          <p:spPr>
            <a:xfrm>
              <a:off x="851154" y="5795010"/>
              <a:ext cx="819912" cy="234696"/>
            </a:xfrm>
            <a:prstGeom prst="rect">
              <a:avLst/>
            </a:prstGeom>
            <a:noFill/>
            <a:ln>
              <a:noFill/>
            </a:ln>
          </p:spPr>
          <p:txBody>
            <a:bodyPr wrap="none" lIns="0" tIns="0" rIns="0" bIns="0" anchor="t" anchorCtr="0">
              <a:spAutoFit/>
            </a:bodyPr>
            <a:lstStyle/>
            <a:p>
              <a:pPr algn="l"/>
              <a:r>
                <a:rPr lang="zh-CN" sz="1200" b="1" dirty="0">
                  <a:solidFill>
                    <a:srgbClr val="4A7C59"/>
                  </a:solidFill>
                  <a:latin typeface="+mn-lt"/>
                  <a:ea typeface="+mn-ea"/>
                  <a:cs typeface="+mn-cs"/>
                </a:rPr>
                <a:t>总结心悟：</a:t>
              </a:r>
            </a:p>
          </p:txBody>
        </p:sp>
        <p:sp>
          <p:nvSpPr>
            <p:cNvPr id="24" name="TextBox 24"/>
            <p:cNvSpPr txBox="1"/>
            <p:nvPr/>
          </p:nvSpPr>
          <p:spPr>
            <a:xfrm>
              <a:off x="1708785" y="5803106"/>
              <a:ext cx="7700924" cy="220028"/>
            </a:xfrm>
            <a:prstGeom prst="rect">
              <a:avLst/>
            </a:prstGeom>
            <a:noFill/>
            <a:ln>
              <a:noFill/>
            </a:ln>
          </p:spPr>
          <p:txBody>
            <a:bodyPr wrap="none" lIns="0" tIns="0" rIns="0" bIns="0" anchor="t" anchorCtr="0">
              <a:spAutoFit/>
            </a:bodyPr>
            <a:lstStyle/>
            <a:p>
              <a:pPr algn="l"/>
              <a:r>
                <a:rPr lang="zh-CN" sz="1120" dirty="0">
                  <a:solidFill>
                    <a:srgbClr val="4A4541"/>
                  </a:solidFill>
                  <a:latin typeface="+mn-lt"/>
                  <a:ea typeface="+mn-ea"/>
                  <a:cs typeface="+mn-cs"/>
                </a:rPr>
                <a:t>传统纹样的活化不是简单扫描照搬，而是领会其精神气质之后的重构表达；让古老非遗在工业化时代焕发新的生机。</a:t>
              </a:r>
            </a:p>
          </p:txBody>
        </p:sp>
        <p:sp>
          <p:nvSpPr>
            <p:cNvPr id="25" name="TextBox 25"/>
            <p:cNvSpPr txBox="1"/>
            <p:nvPr/>
          </p:nvSpPr>
          <p:spPr>
            <a:xfrm>
              <a:off x="1709547" y="6066949"/>
              <a:ext cx="7316316" cy="190690"/>
            </a:xfrm>
            <a:prstGeom prst="rect">
              <a:avLst/>
            </a:prstGeom>
            <a:noFill/>
            <a:ln>
              <a:noFill/>
            </a:ln>
          </p:spPr>
          <p:txBody>
            <a:bodyPr wrap="none" lIns="0" tIns="0" rIns="0" bIns="0" anchor="t" anchorCtr="0">
              <a:spAutoFit/>
            </a:bodyPr>
            <a:lstStyle/>
            <a:p>
              <a:pPr algn="l"/>
              <a:r>
                <a:rPr lang="en-US" sz="980" dirty="0">
                  <a:solidFill>
                    <a:srgbClr val="7D766F"/>
                  </a:solidFill>
                  <a:latin typeface="+mn-lt"/>
                  <a:ea typeface="+mn-ea"/>
                  <a:cs typeface="+mn-cs"/>
                </a:rPr>
                <a:t>Modern design resurrects cultural heritage through rigorous craftsmanship and thoughtful aesthetic adaptation</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frame-border"/>
          <p:cNvSpPr/>
          <p:nvPr/>
        </p:nvSpPr>
        <p:spPr>
          <a:xfrm>
            <a:off x="285750" y="285750"/>
            <a:ext cx="11620500" cy="6286500"/>
          </a:xfrm>
          <a:prstGeom prst="rect">
            <a:avLst/>
          </a:prstGeom>
          <a:noFill/>
          <a:ln w="14288">
            <a:solidFill>
              <a:srgbClr val="E2D9CC"/>
            </a:solidFill>
          </a:ln>
        </p:spPr>
      </p:sp>
      <p:sp>
        <p:nvSpPr>
          <p:cNvPr id="3" name="frame-inner"/>
          <p:cNvSpPr/>
          <p:nvPr/>
        </p:nvSpPr>
        <p:spPr>
          <a:xfrm>
            <a:off x="361950" y="361950"/>
            <a:ext cx="11468100" cy="6134100"/>
          </a:xfrm>
          <a:prstGeom prst="rect">
            <a:avLst/>
          </a:prstGeom>
          <a:noFill/>
          <a:ln w="7620">
            <a:solidFill>
              <a:srgbClr val="E8E0D5"/>
            </a:solidFill>
            <a:prstDash val="dash"/>
          </a:ln>
        </p:spPr>
      </p:sp>
      <p:grpSp>
        <p:nvGrpSpPr>
          <p:cNvPr id="6" name="p14-badge-group"/>
          <p:cNvGrpSpPr/>
          <p:nvPr/>
        </p:nvGrpSpPr>
        <p:grpSpPr>
          <a:xfrm>
            <a:off x="4191000" y="1143000"/>
            <a:ext cx="3810000" cy="419100"/>
            <a:chOff x="4191000" y="1143000"/>
            <a:chExt cx="3810000" cy="419100"/>
          </a:xfrm>
        </p:grpSpPr>
        <p:sp>
          <p:nvSpPr>
            <p:cNvPr id="4" name="Rectangle 4"/>
            <p:cNvSpPr/>
            <p:nvPr/>
          </p:nvSpPr>
          <p:spPr>
            <a:xfrm>
              <a:off x="4191000" y="1143000"/>
              <a:ext cx="3810000" cy="419100"/>
            </a:xfrm>
            <a:prstGeom prst="roundRect">
              <a:avLst>
                <a:gd name="adj" fmla="val 50000"/>
              </a:avLst>
            </a:prstGeom>
            <a:solidFill>
              <a:srgbClr val="F3EEE6"/>
            </a:solidFill>
            <a:ln w="9525">
              <a:solidFill>
                <a:srgbClr val="D8CDBF"/>
              </a:solidFill>
            </a:ln>
          </p:spPr>
        </p:sp>
        <p:sp>
          <p:nvSpPr>
            <p:cNvPr id="5" name="TextBox 5"/>
            <p:cNvSpPr txBox="1"/>
            <p:nvPr/>
          </p:nvSpPr>
          <p:spPr>
            <a:xfrm>
              <a:off x="5125368" y="1288256"/>
              <a:ext cx="1941264" cy="220028"/>
            </a:xfrm>
            <a:prstGeom prst="rect">
              <a:avLst/>
            </a:prstGeom>
            <a:noFill/>
            <a:ln>
              <a:noFill/>
            </a:ln>
          </p:spPr>
          <p:txBody>
            <a:bodyPr wrap="none" lIns="0" tIns="0" rIns="0" bIns="0" anchor="t" anchorCtr="0">
              <a:spAutoFit/>
            </a:bodyPr>
            <a:lstStyle/>
            <a:p>
              <a:pPr algn="ctr"/>
              <a:r>
                <a:rPr lang="zh-CN" sz="1120" b="1" spc="150" dirty="0">
                  <a:solidFill>
                    <a:srgbClr val="B83A2E"/>
                  </a:solidFill>
                  <a:latin typeface="+mn-lt"/>
                  <a:ea typeface="+mn-ea"/>
                  <a:cs typeface="+mn-cs"/>
                </a:rPr>
                <a:t>汇报完毕 · 敬请批评指正</a:t>
              </a:r>
            </a:p>
          </p:txBody>
        </p:sp>
      </p:grpSp>
      <p:grpSp>
        <p:nvGrpSpPr>
          <p:cNvPr id="11" name="p14-title-group"/>
          <p:cNvGrpSpPr/>
          <p:nvPr/>
        </p:nvGrpSpPr>
        <p:grpSpPr>
          <a:xfrm>
            <a:off x="3527228" y="2166938"/>
            <a:ext cx="5137543" cy="1263777"/>
            <a:chOff x="3527228" y="2166938"/>
            <a:chExt cx="5137543" cy="1263777"/>
          </a:xfrm>
        </p:grpSpPr>
        <p:sp>
          <p:nvSpPr>
            <p:cNvPr id="7" name="TextBox 7"/>
            <p:cNvSpPr txBox="1"/>
            <p:nvPr/>
          </p:nvSpPr>
          <p:spPr>
            <a:xfrm>
              <a:off x="4714470" y="2166938"/>
              <a:ext cx="2763060" cy="733425"/>
            </a:xfrm>
            <a:prstGeom prst="rect">
              <a:avLst/>
            </a:prstGeom>
            <a:noFill/>
            <a:ln>
              <a:noFill/>
            </a:ln>
          </p:spPr>
          <p:txBody>
            <a:bodyPr wrap="none" lIns="0" tIns="0" rIns="0" bIns="0" anchor="t" anchorCtr="0">
              <a:spAutoFit/>
            </a:bodyPr>
            <a:lstStyle/>
            <a:p>
              <a:pPr algn="ctr"/>
              <a:r>
                <a:rPr lang="zh-CN" sz="3750" b="1" spc="300" dirty="0">
                  <a:solidFill>
                    <a:srgbClr val="B83A2E"/>
                  </a:solidFill>
                  <a:latin typeface="+mn-lt"/>
                  <a:ea typeface="+mn-ea"/>
                  <a:cs typeface="+mn-cs"/>
                </a:rPr>
                <a:t>感 谢 聆 听</a:t>
              </a:r>
            </a:p>
          </p:txBody>
        </p:sp>
        <p:sp>
          <p:nvSpPr>
            <p:cNvPr id="8" name="Line 8"/>
            <p:cNvSpPr/>
            <p:nvPr/>
          </p:nvSpPr>
          <p:spPr>
            <a:xfrm>
              <a:off x="4572000" y="2857500"/>
              <a:ext cx="3048000" cy="9525"/>
            </a:xfrm>
            <a:custGeom>
              <a:avLst/>
              <a:gdLst/>
              <a:ahLst/>
              <a:cxnLst/>
              <a:rect l="l" t="t" r="r" b="b"/>
              <a:pathLst>
                <a:path w="3048000" h="9525">
                  <a:moveTo>
                    <a:pt x="0" y="0"/>
                  </a:moveTo>
                  <a:lnTo>
                    <a:pt x="3048000" y="0"/>
                  </a:lnTo>
                </a:path>
              </a:pathLst>
            </a:custGeom>
            <a:noFill/>
            <a:ln w="19050">
              <a:solidFill>
                <a:srgbClr val="C4892B"/>
              </a:solidFill>
            </a:ln>
          </p:spPr>
        </p:sp>
        <p:sp>
          <p:nvSpPr>
            <p:cNvPr id="9" name="Ellipse 9"/>
            <p:cNvSpPr/>
            <p:nvPr/>
          </p:nvSpPr>
          <p:spPr>
            <a:xfrm>
              <a:off x="6048375" y="2809875"/>
              <a:ext cx="95250" cy="95250"/>
            </a:xfrm>
            <a:prstGeom prst="ellipse">
              <a:avLst/>
            </a:prstGeom>
            <a:solidFill>
              <a:srgbClr val="C4892B"/>
            </a:solidFill>
            <a:ln>
              <a:noFill/>
            </a:ln>
          </p:spPr>
        </p:sp>
        <p:sp>
          <p:nvSpPr>
            <p:cNvPr id="10" name="TextBox 10"/>
            <p:cNvSpPr txBox="1"/>
            <p:nvPr/>
          </p:nvSpPr>
          <p:spPr>
            <a:xfrm>
              <a:off x="3527228" y="3108008"/>
              <a:ext cx="5137543" cy="322707"/>
            </a:xfrm>
            <a:prstGeom prst="rect">
              <a:avLst/>
            </a:prstGeom>
            <a:noFill/>
            <a:ln>
              <a:noFill/>
            </a:ln>
          </p:spPr>
          <p:txBody>
            <a:bodyPr wrap="none" lIns="0" tIns="0" rIns="0" bIns="0" anchor="t" anchorCtr="0">
              <a:spAutoFit/>
            </a:bodyPr>
            <a:lstStyle/>
            <a:p>
              <a:pPr algn="ctr"/>
              <a:r>
                <a:rPr lang="zh-CN" sz="1650" b="1" spc="150" dirty="0">
                  <a:solidFill>
                    <a:srgbClr val="262220"/>
                  </a:solidFill>
                  <a:latin typeface="+mn-lt"/>
                  <a:ea typeface="+mn-ea"/>
                  <a:cs typeface="+mn-cs"/>
                </a:rPr>
                <a:t>针韵留痕——汴绣传统纹样的提取与印刷转化设计</a:t>
              </a:r>
            </a:p>
          </p:txBody>
        </p:sp>
      </p:grpSp>
      <p:grpSp>
        <p:nvGrpSpPr>
          <p:cNvPr id="15" name="p14-thanks-card"/>
          <p:cNvGrpSpPr/>
          <p:nvPr/>
        </p:nvGrpSpPr>
        <p:grpSpPr>
          <a:xfrm>
            <a:off x="2286000" y="3810000"/>
            <a:ext cx="7620000" cy="952500"/>
            <a:chOff x="2286000" y="3810000"/>
            <a:chExt cx="7620000" cy="952500"/>
          </a:xfrm>
        </p:grpSpPr>
        <p:sp>
          <p:nvSpPr>
            <p:cNvPr id="12" name="Rectangle 12"/>
            <p:cNvSpPr/>
            <p:nvPr/>
          </p:nvSpPr>
          <p:spPr>
            <a:xfrm>
              <a:off x="2286000" y="3810000"/>
              <a:ext cx="7620000" cy="952500"/>
            </a:xfrm>
            <a:prstGeom prst="roundRect">
              <a:avLst>
                <a:gd name="adj" fmla="val 8000"/>
              </a:avLst>
            </a:prstGeom>
            <a:solidFill>
              <a:srgbClr val="FFFFFF"/>
            </a:solidFill>
            <a:ln w="9525">
              <a:solidFill>
                <a:srgbClr val="E8E2D8"/>
              </a:solidFill>
            </a:ln>
          </p:spPr>
        </p:sp>
        <p:sp>
          <p:nvSpPr>
            <p:cNvPr id="13" name="Rectangle 13"/>
            <p:cNvSpPr/>
            <p:nvPr/>
          </p:nvSpPr>
          <p:spPr>
            <a:xfrm>
              <a:off x="2286000" y="3810000"/>
              <a:ext cx="57150" cy="952500"/>
            </a:xfrm>
            <a:prstGeom prst="roundRect">
              <a:avLst>
                <a:gd name="adj" fmla="val 50000"/>
              </a:avLst>
            </a:prstGeom>
            <a:solidFill>
              <a:srgbClr val="B83A2E"/>
            </a:solidFill>
            <a:ln>
              <a:noFill/>
            </a:ln>
          </p:spPr>
        </p:sp>
        <p:sp>
          <p:nvSpPr>
            <p:cNvPr id="14" name="TextBox 14"/>
            <p:cNvSpPr txBox="1"/>
            <p:nvPr/>
          </p:nvSpPr>
          <p:spPr>
            <a:xfrm>
              <a:off x="2566035" y="4117181"/>
              <a:ext cx="5843270" cy="486728"/>
            </a:xfrm>
            <a:prstGeom prst="rect">
              <a:avLst/>
            </a:prstGeom>
            <a:noFill/>
            <a:ln>
              <a:noFill/>
            </a:ln>
          </p:spPr>
          <p:txBody>
            <a:bodyPr wrap="none" lIns="0" tIns="0" rIns="0" bIns="0" anchor="t" anchorCtr="0">
              <a:spAutoFit/>
            </a:bodyPr>
            <a:lstStyle/>
            <a:p>
              <a:pPr algn="l">
                <a:lnSpc>
                  <a:spcPts val="2100"/>
                </a:lnSpc>
              </a:pPr>
              <a:r>
                <a:rPr lang="zh-CN" sz="1120" dirty="0">
                  <a:solidFill>
                    <a:srgbClr val="4A4541"/>
                  </a:solidFill>
                  <a:latin typeface="+mn-lt"/>
                  <a:ea typeface="+mn-ea"/>
                  <a:cs typeface="+mn-cs"/>
                </a:rPr>
                <a:t>感谢老师在课程期间给予的指导与建议，让我对传统装饰纹样和印刷工艺有了更系统的理解。</a:t>
              </a:r>
            </a:p>
            <a:p>
              <a:pPr algn="l">
                <a:lnSpc>
                  <a:spcPts val="2100"/>
                </a:lnSpc>
              </a:pPr>
              <a:r>
                <a:rPr lang="zh-CN" sz="1050" dirty="0">
                  <a:solidFill>
                    <a:srgbClr val="7D766F"/>
                  </a:solidFill>
                  <a:latin typeface="+mn-lt"/>
                  <a:ea typeface="+mn-ea"/>
                  <a:cs typeface="+mn-cs"/>
                </a:rPr>
                <a:t>以上就是我的汇报，敬请老师批评指正！</a:t>
              </a:r>
            </a:p>
          </p:txBody>
        </p:sp>
      </p:grpSp>
      <p:grpSp>
        <p:nvGrpSpPr>
          <p:cNvPr id="22" name="p14-meta-group"/>
          <p:cNvGrpSpPr/>
          <p:nvPr/>
        </p:nvGrpSpPr>
        <p:grpSpPr>
          <a:xfrm>
            <a:off x="2857500" y="5048250"/>
            <a:ext cx="6477000" cy="762000"/>
            <a:chOff x="2857500" y="5048250"/>
            <a:chExt cx="6477000" cy="762000"/>
          </a:xfrm>
        </p:grpSpPr>
        <p:sp>
          <p:nvSpPr>
            <p:cNvPr id="16" name="Rectangle 16"/>
            <p:cNvSpPr/>
            <p:nvPr/>
          </p:nvSpPr>
          <p:spPr>
            <a:xfrm>
              <a:off x="2857500" y="5048250"/>
              <a:ext cx="6477000" cy="762000"/>
            </a:xfrm>
            <a:prstGeom prst="roundRect">
              <a:avLst>
                <a:gd name="adj" fmla="val 50000"/>
              </a:avLst>
            </a:prstGeom>
            <a:solidFill>
              <a:srgbClr val="FFFFFF"/>
            </a:solidFill>
            <a:ln w="9525">
              <a:solidFill>
                <a:srgbClr val="E2D9CC"/>
              </a:solidFill>
            </a:ln>
          </p:spPr>
        </p:sp>
        <p:sp>
          <p:nvSpPr>
            <p:cNvPr id="17" name="TextBox 17"/>
            <p:cNvSpPr txBox="1"/>
            <p:nvPr/>
          </p:nvSpPr>
          <p:spPr>
            <a:xfrm>
              <a:off x="3475634" y="5375910"/>
              <a:ext cx="859231"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汇报人：</a:t>
              </a:r>
              <a:r>
                <a:rPr lang="en-US" sz="1200" dirty="0">
                  <a:solidFill>
                    <a:srgbClr val="262220"/>
                  </a:solidFill>
                  <a:latin typeface="+mn-lt"/>
                  <a:ea typeface="+mn-ea"/>
                  <a:cs typeface="+mn-cs"/>
                </a:rPr>
                <a:t>XXX</a:t>
              </a:r>
            </a:p>
          </p:txBody>
        </p:sp>
        <p:sp>
          <p:nvSpPr>
            <p:cNvPr id="18" name="Line 18"/>
            <p:cNvSpPr/>
            <p:nvPr/>
          </p:nvSpPr>
          <p:spPr>
            <a:xfrm>
              <a:off x="4953000" y="5257800"/>
              <a:ext cx="9525" cy="381000"/>
            </a:xfrm>
            <a:custGeom>
              <a:avLst/>
              <a:gdLst/>
              <a:ahLst/>
              <a:cxnLst/>
              <a:rect l="l" t="t" r="r" b="b"/>
              <a:pathLst>
                <a:path w="9525" h="381000">
                  <a:moveTo>
                    <a:pt x="0" y="0"/>
                  </a:moveTo>
                  <a:lnTo>
                    <a:pt x="0" y="381000"/>
                  </a:lnTo>
                </a:path>
              </a:pathLst>
            </a:custGeom>
            <a:noFill/>
            <a:ln w="9525">
              <a:solidFill>
                <a:srgbClr val="E2D9CC"/>
              </a:solidFill>
            </a:ln>
          </p:spPr>
        </p:sp>
        <p:sp>
          <p:nvSpPr>
            <p:cNvPr id="19" name="TextBox 19"/>
            <p:cNvSpPr txBox="1"/>
            <p:nvPr/>
          </p:nvSpPr>
          <p:spPr>
            <a:xfrm>
              <a:off x="5393246" y="5375910"/>
              <a:ext cx="1405509"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专业：</a:t>
              </a:r>
              <a:r>
                <a:rPr lang="zh-CN" sz="1200" dirty="0">
                  <a:solidFill>
                    <a:srgbClr val="262220"/>
                  </a:solidFill>
                  <a:latin typeface="+mn-lt"/>
                  <a:ea typeface="+mn-ea"/>
                  <a:cs typeface="+mn-cs"/>
                </a:rPr>
                <a:t>视觉传达设计</a:t>
              </a:r>
            </a:p>
          </p:txBody>
        </p:sp>
        <p:sp>
          <p:nvSpPr>
            <p:cNvPr id="20" name="Line 20"/>
            <p:cNvSpPr/>
            <p:nvPr/>
          </p:nvSpPr>
          <p:spPr>
            <a:xfrm>
              <a:off x="7239000" y="5257800"/>
              <a:ext cx="9525" cy="381000"/>
            </a:xfrm>
            <a:custGeom>
              <a:avLst/>
              <a:gdLst/>
              <a:ahLst/>
              <a:cxnLst/>
              <a:rect l="l" t="t" r="r" b="b"/>
              <a:pathLst>
                <a:path w="9525" h="381000">
                  <a:moveTo>
                    <a:pt x="0" y="0"/>
                  </a:moveTo>
                  <a:lnTo>
                    <a:pt x="0" y="381000"/>
                  </a:lnTo>
                </a:path>
              </a:pathLst>
            </a:custGeom>
            <a:noFill/>
            <a:ln w="9525">
              <a:solidFill>
                <a:srgbClr val="E2D9CC"/>
              </a:solidFill>
            </a:ln>
          </p:spPr>
        </p:sp>
        <p:sp>
          <p:nvSpPr>
            <p:cNvPr id="21" name="TextBox 21"/>
            <p:cNvSpPr txBox="1"/>
            <p:nvPr/>
          </p:nvSpPr>
          <p:spPr>
            <a:xfrm>
              <a:off x="7832560" y="5375910"/>
              <a:ext cx="717880" cy="234696"/>
            </a:xfrm>
            <a:prstGeom prst="rect">
              <a:avLst/>
            </a:prstGeom>
            <a:noFill/>
            <a:ln>
              <a:noFill/>
            </a:ln>
          </p:spPr>
          <p:txBody>
            <a:bodyPr wrap="none" lIns="0" tIns="0" rIns="0" bIns="0" anchor="t" anchorCtr="0">
              <a:spAutoFit/>
            </a:bodyPr>
            <a:lstStyle/>
            <a:p>
              <a:pPr algn="ctr"/>
              <a:r>
                <a:rPr lang="zh-CN" sz="1050" dirty="0">
                  <a:solidFill>
                    <a:srgbClr val="7D766F"/>
                  </a:solidFill>
                  <a:latin typeface="+mn-lt"/>
                  <a:ea typeface="+mn-ea"/>
                  <a:cs typeface="+mn-cs"/>
                </a:rPr>
                <a:t>班级：</a:t>
              </a:r>
              <a:r>
                <a:rPr lang="en-US" sz="1200" dirty="0">
                  <a:solidFill>
                    <a:srgbClr val="262220"/>
                  </a:solidFill>
                  <a:latin typeface="+mn-lt"/>
                  <a:ea typeface="+mn-ea"/>
                  <a:cs typeface="+mn-cs"/>
                </a:rPr>
                <a:t>XXX</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ianxiu">
  <a:themeElements>
    <a:clrScheme name="bianxi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ianxiu">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anxi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ianxiu">
  <a:themeElements>
    <a:clrScheme name="bianxi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ianxiu">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anxi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2026-09-20T05:30:17Z</dcterms:created>
  <dcterms:modified xsi:type="dcterms:W3CDTF">2026-09-20T05:30:17Z</dcterms:modified>
  <cp:category/>
  <cp:contentStatus/>
</cp:coreProperties>
</file>